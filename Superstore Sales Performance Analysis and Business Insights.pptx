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97" r:id="rId13"/>
    <p:sldId id="31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1" r:id="rId45"/>
    <p:sldId id="305" r:id="rId46"/>
    <p:sldId id="302" r:id="rId47"/>
    <p:sldId id="308" r:id="rId48"/>
    <p:sldId id="306" r:id="rId49"/>
    <p:sldId id="303" r:id="rId50"/>
    <p:sldId id="309" r:id="rId51"/>
    <p:sldId id="307" r:id="rId52"/>
    <p:sldId id="304" r:id="rId53"/>
    <p:sldId id="313" r:id="rId54"/>
    <p:sldId id="314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7474"/>
    <a:srgbClr val="E64C69"/>
    <a:srgbClr val="940E18"/>
    <a:srgbClr val="FD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7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20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1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24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44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0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4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0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4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53159-51BD-42EA-BD3A-48DB7A4C8F1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D313-89DA-4AE9-8B37-37E7D27F21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8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A4115E-5ED1-1DEC-03CC-CC579A1290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23790">
            <a:off x="2833230" y="1546586"/>
            <a:ext cx="1308625" cy="130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B8F6F5-7CD5-19B9-F559-DED1514193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5578">
            <a:off x="9158967" y="3680643"/>
            <a:ext cx="1475851" cy="1462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635" y="2766218"/>
            <a:ext cx="4430729" cy="1325563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Superstore Dataset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378919" y="4313099"/>
            <a:ext cx="3915267" cy="547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Bell MT" panose="02020503060305020303" pitchFamily="18" charset="0"/>
              </a:rPr>
              <a:t>Abdullah Ashraf Hessien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79118" y="5650683"/>
            <a:ext cx="2988296" cy="49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Yahia Ahmed Elsayed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288424" y="5007760"/>
            <a:ext cx="3569687" cy="49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Mohamed Aly Laskar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155239" y="5307426"/>
            <a:ext cx="3836055" cy="547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Mohamed Bahaa Mohamed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386787" y="4664503"/>
            <a:ext cx="3372963" cy="49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Fares Mohamed Mostafa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8B498-0EB2-B817-70A5-A9D911E2BD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4833">
            <a:off x="6618692" y="963113"/>
            <a:ext cx="2282116" cy="2282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72D310-45BA-89D3-5181-5470A5164A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7728">
            <a:off x="1375176" y="3811419"/>
            <a:ext cx="1200849" cy="12008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CBC74-B5F4-301B-6AF9-29FB19873DBE}"/>
              </a:ext>
            </a:extLst>
          </p:cNvPr>
          <p:cNvSpPr txBox="1"/>
          <p:nvPr/>
        </p:nvSpPr>
        <p:spPr>
          <a:xfrm>
            <a:off x="2357610" y="319489"/>
            <a:ext cx="75575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Insight Squad Sales Evolution</a:t>
            </a:r>
            <a:endParaRPr lang="en-US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03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658" y="1498294"/>
            <a:ext cx="11292289" cy="3448279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skerville Old Face" panose="02020602080505020303" pitchFamily="18" charset="0"/>
              </a:rPr>
              <a:t>Main problem trying to solve</a:t>
            </a:r>
          </a:p>
        </p:txBody>
      </p:sp>
    </p:spTree>
    <p:extLst>
      <p:ext uri="{BB962C8B-B14F-4D97-AF65-F5344CB8AC3E}">
        <p14:creationId xmlns:p14="http://schemas.microsoft.com/office/powerpoint/2010/main" val="301241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4"/>
            <a:ext cx="10515600" cy="494282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Kpis to focus on to analysis this metric</a:t>
            </a:r>
          </a:p>
          <a:p>
            <a:r>
              <a:rPr lang="en-US" b="1" dirty="0">
                <a:latin typeface="Bell MT" panose="02020503060305020303" pitchFamily="18" charset="0"/>
              </a:rPr>
              <a:t>Total Sales </a:t>
            </a:r>
          </a:p>
          <a:p>
            <a:r>
              <a:rPr lang="en-US" b="1" dirty="0">
                <a:latin typeface="Bell MT" panose="02020503060305020303" pitchFamily="18" charset="0"/>
              </a:rPr>
              <a:t>Total Profit </a:t>
            </a:r>
          </a:p>
          <a:p>
            <a:r>
              <a:rPr lang="en-US" b="1" dirty="0">
                <a:latin typeface="Bell MT" panose="02020503060305020303" pitchFamily="18" charset="0"/>
              </a:rPr>
              <a:t>Profit Margin </a:t>
            </a:r>
          </a:p>
          <a:p>
            <a:r>
              <a:rPr lang="en-US" b="1" dirty="0">
                <a:latin typeface="Bell MT" panose="02020503060305020303" pitchFamily="18" charset="0"/>
              </a:rPr>
              <a:t>Total Quantity Sold </a:t>
            </a:r>
          </a:p>
          <a:p>
            <a:r>
              <a:rPr lang="en-US" b="1" dirty="0">
                <a:latin typeface="Bell MT" panose="02020503060305020303" pitchFamily="18" charset="0"/>
              </a:rPr>
              <a:t>Average Discount % </a:t>
            </a:r>
          </a:p>
          <a:p>
            <a:r>
              <a:rPr lang="en-US" b="1" dirty="0">
                <a:latin typeface="Bell MT" panose="02020503060305020303" pitchFamily="18" charset="0"/>
              </a:rPr>
              <a:t>Profit by Region </a:t>
            </a:r>
          </a:p>
          <a:p>
            <a:r>
              <a:rPr lang="en-US" b="1" dirty="0">
                <a:latin typeface="Bell MT" panose="02020503060305020303" pitchFamily="18" charset="0"/>
              </a:rPr>
              <a:t>Sales by State </a:t>
            </a:r>
          </a:p>
          <a:p>
            <a:r>
              <a:rPr lang="en-US" b="1" dirty="0">
                <a:latin typeface="Bell MT" panose="02020503060305020303" pitchFamily="18" charset="0"/>
              </a:rPr>
              <a:t>Average Order Value (AOV) </a:t>
            </a:r>
          </a:p>
          <a:p>
            <a:r>
              <a:rPr lang="en-US" b="1" dirty="0">
                <a:latin typeface="Bell MT" panose="02020503060305020303" pitchFamily="18" charset="0"/>
              </a:rPr>
              <a:t>Customer Lifetime Value (CLV) </a:t>
            </a:r>
          </a:p>
          <a:p>
            <a:r>
              <a:rPr lang="en-US" b="1" dirty="0">
                <a:latin typeface="Bell MT" panose="02020503060305020303" pitchFamily="18" charset="0"/>
              </a:rPr>
              <a:t>Top Customers </a:t>
            </a:r>
          </a:p>
          <a:p>
            <a:r>
              <a:rPr lang="en-US" b="1" dirty="0">
                <a:latin typeface="Bell MT" panose="02020503060305020303" pitchFamily="18" charset="0"/>
              </a:rPr>
              <a:t>These all point to identifying where the business is winning vs. losing</a:t>
            </a:r>
          </a:p>
          <a:p>
            <a:r>
              <a:rPr lang="en-US" b="1" dirty="0">
                <a:latin typeface="Bell MT" panose="02020503060305020303" pitchFamily="18" charset="0"/>
              </a:rPr>
              <a:t>We analyzed the data to understand which regions, customers, and products drive or drain revenue and to uncover actionable patterns to fix inconsistent sales performance</a:t>
            </a:r>
          </a:p>
          <a:p>
            <a:r>
              <a:rPr lang="en-US" b="1" dirty="0">
                <a:latin typeface="Bell MT" panose="02020503060305020303" pitchFamily="18" charset="0"/>
              </a:rPr>
              <a:t>To understand which areas of the business drive or weaken revenue and profitability.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Sales performance is inconsistent across regions, customers, and ship modes.</a:t>
            </a:r>
            <a:br>
              <a:rPr lang="ar-EG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</a:br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causing lost revenue and reduced profitability.</a:t>
            </a:r>
            <a:b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</a:br>
            <a:endParaRPr lang="en-US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6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Delivery times and shipping methods are affecting customer satisfaction and profitability.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36600" y="2078925"/>
            <a:ext cx="6248400" cy="263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Bell MT" panose="02020503060305020303" pitchFamily="18" charset="0"/>
              </a:rPr>
              <a:t>Kpis to focus on to analysis this metric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r>
              <a:rPr lang="en-US" sz="1800" b="1" dirty="0">
                <a:latin typeface="Bell MT" panose="02020503060305020303" pitchFamily="18" charset="0"/>
              </a:rPr>
              <a:t>Average Delivery Time (Overall)</a:t>
            </a:r>
          </a:p>
          <a:p>
            <a:r>
              <a:rPr lang="en-US" sz="1800" b="1" dirty="0">
                <a:latin typeface="Bell MT" panose="02020503060305020303" pitchFamily="18" charset="0"/>
              </a:rPr>
              <a:t>Average Delivery Time per Ship Mode </a:t>
            </a:r>
          </a:p>
          <a:p>
            <a:r>
              <a:rPr lang="en-US" sz="1800" b="1" dirty="0">
                <a:latin typeface="Bell MT" panose="02020503060305020303" pitchFamily="18" charset="0"/>
              </a:rPr>
              <a:t>Average Delivery Time by Month </a:t>
            </a:r>
          </a:p>
          <a:p>
            <a:r>
              <a:rPr lang="en-US" sz="1800" b="1" dirty="0">
                <a:latin typeface="Bell MT" panose="02020503060305020303" pitchFamily="18" charset="0"/>
              </a:rPr>
              <a:t>Ship Mode Summary – Overall</a:t>
            </a:r>
          </a:p>
          <a:p>
            <a:r>
              <a:rPr lang="en-US" sz="1800" b="1" dirty="0">
                <a:latin typeface="Bell MT" panose="02020503060305020303" pitchFamily="18" charset="0"/>
              </a:rPr>
              <a:t>Ship Mode Performance by Region </a:t>
            </a:r>
          </a:p>
          <a:p>
            <a:r>
              <a:rPr lang="en-US" sz="1800" b="1" dirty="0">
                <a:latin typeface="Bell MT" panose="02020503060305020303" pitchFamily="18" charset="0"/>
              </a:rPr>
              <a:t>Ship Mode Share of Total Sales (%)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5308600" y="4686232"/>
            <a:ext cx="6248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Bell MT" panose="02020503060305020303" pitchFamily="18" charset="0"/>
              </a:rPr>
              <a:t>We analyzed the data to reveal delivery inefficiencies across ship modes and regions — and to understand how these delays impact customer satisfaction and profit.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Bell MT" panose="020205030603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Bell MT" panose="02020503060305020303" pitchFamily="18" charset="0"/>
              </a:rPr>
              <a:t>To identify bottlenecks and inefficiencies in shipping and delivery performance across regions and ship modes.</a:t>
            </a:r>
            <a:endParaRPr lang="en-US" altLang="en-US" sz="18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About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568700" cy="777875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Data Source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868988"/>
            <a:ext cx="5918200" cy="777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Dataset sourced from </a:t>
            </a:r>
            <a:r>
              <a:rPr lang="en-US" b="1" dirty="0">
                <a:latin typeface="Bell MT" panose="02020503060305020303" pitchFamily="18" charset="0"/>
              </a:rPr>
              <a:t>Kaggle</a:t>
            </a:r>
            <a:r>
              <a:rPr lang="en-US" dirty="0">
                <a:latin typeface="Bell MT" panose="02020503060305020303" pitchFamily="18" charset="0"/>
              </a:rPr>
              <a:t>, a trusted platform for open real-world data.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90268" y="4520382"/>
            <a:ext cx="3568700" cy="77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skerville Old Face" panose="02020602080505020303" pitchFamily="18" charset="0"/>
              </a:rPr>
              <a:t>Data Size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90268" y="5442457"/>
            <a:ext cx="5918200" cy="777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Contains ≈ </a:t>
            </a:r>
            <a:r>
              <a:rPr lang="en-US" dirty="0">
                <a:latin typeface="Bahnschrift Light Condensed" panose="020B0502040204020203" pitchFamily="34" charset="0"/>
              </a:rPr>
              <a:t>10,000</a:t>
            </a:r>
            <a:r>
              <a:rPr lang="en-US" b="1" dirty="0">
                <a:latin typeface="Bell MT" panose="02020503060305020303" pitchFamily="18" charset="0"/>
              </a:rPr>
              <a:t> rows</a:t>
            </a:r>
            <a:r>
              <a:rPr lang="en-US" dirty="0">
                <a:latin typeface="Bell MT" panose="02020503060305020303" pitchFamily="18" charset="0"/>
              </a:rPr>
              <a:t> and </a:t>
            </a:r>
            <a:r>
              <a:rPr lang="en-US" b="1" dirty="0">
                <a:latin typeface="Bahnschrift Light Condensed" panose="020B0502040204020203" pitchFamily="34" charset="0"/>
              </a:rPr>
              <a:t>21</a:t>
            </a:r>
            <a:r>
              <a:rPr lang="en-US" b="1" dirty="0">
                <a:latin typeface="Bell MT" panose="02020503060305020303" pitchFamily="18" charset="0"/>
              </a:rPr>
              <a:t> columns</a:t>
            </a:r>
            <a:r>
              <a:rPr lang="en-US" dirty="0">
                <a:latin typeface="Bell MT" panose="02020503060305020303" pitchFamily="18" charset="0"/>
              </a:rPr>
              <a:t>, offering a comprehensive view of sales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831618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2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Data Structure and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593244"/>
            <a:ext cx="2667000" cy="879475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Categorical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27994" y="1599382"/>
            <a:ext cx="2667000" cy="879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Baskerville Old Face" panose="02020602080505020303" pitchFamily="18" charset="0"/>
              </a:rPr>
              <a:t>Numerical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19800" y="1599382"/>
            <a:ext cx="2667000" cy="879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Baskerville Old Face" panose="02020602080505020303" pitchFamily="18" charset="0"/>
              </a:rPr>
              <a:t>Date/Time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7650" y="2705100"/>
            <a:ext cx="2667000" cy="3855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Bell MT" panose="02020503060305020303" pitchFamily="18" charset="0"/>
              </a:rPr>
              <a:t>Ship Mode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Customer Name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Segment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Country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City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State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Postal Code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Region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Category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Sub-Category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Product Name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128963" y="2705100"/>
            <a:ext cx="26670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Bell MT" panose="02020503060305020303" pitchFamily="18" charset="0"/>
              </a:rPr>
              <a:t>Sales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Profit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Quantity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Discount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10276" y="2702744"/>
            <a:ext cx="26670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Bell MT" panose="02020503060305020303" pitchFamily="18" charset="0"/>
              </a:rPr>
              <a:t>Order Date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 Ship Date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026330" y="2702744"/>
            <a:ext cx="26670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Bell MT" panose="02020503060305020303" pitchFamily="18" charset="0"/>
              </a:rPr>
              <a:t>Row ID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Order ID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Customer ID</a:t>
            </a:r>
          </a:p>
          <a:p>
            <a:r>
              <a:rPr lang="en-US" sz="1600" b="1" dirty="0">
                <a:latin typeface="Bell MT" panose="02020503060305020303" pitchFamily="18" charset="0"/>
              </a:rPr>
              <a:t>Product ID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039913" y="1593244"/>
            <a:ext cx="2667000" cy="879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Baskerville Old Face" panose="02020602080505020303" pitchFamily="18" charset="0"/>
              </a:rPr>
              <a:t>Unique Identifiers (IDs)</a:t>
            </a:r>
          </a:p>
        </p:txBody>
      </p:sp>
    </p:spTree>
    <p:extLst>
      <p:ext uri="{BB962C8B-B14F-4D97-AF65-F5344CB8AC3E}">
        <p14:creationId xmlns:p14="http://schemas.microsoft.com/office/powerpoint/2010/main" val="348704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 l="5000" t="-3000" r="5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691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41" y="1495118"/>
            <a:ext cx="11544759" cy="2327734"/>
          </a:xfrm>
        </p:spPr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Handling Missing Values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Checked df.info() and df.describe() → all columns have no missing values.</a:t>
            </a:r>
          </a:p>
          <a:p>
            <a:r>
              <a:rPr lang="en-US" dirty="0">
                <a:latin typeface="Bell MT" panose="02020503060305020303" pitchFamily="18" charset="0"/>
              </a:rPr>
              <a:t>No imputation was needed as the dataset is complete.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2234" y="3279048"/>
            <a:ext cx="10904497" cy="3213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b="1" dirty="0">
                <a:latin typeface="Bell MT" panose="02020503060305020303" pitchFamily="18" charset="0"/>
              </a:rPr>
              <a:t>Handling Duplicates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Checked for duplicates df.duplicated().sum())</a:t>
            </a:r>
          </a:p>
          <a:p>
            <a:r>
              <a:rPr lang="en-US" dirty="0">
                <a:latin typeface="Bell MT" panose="02020503060305020303" pitchFamily="18" charset="0"/>
              </a:rPr>
              <a:t>if there were duplicates</a:t>
            </a:r>
          </a:p>
          <a:p>
            <a:r>
              <a:rPr lang="en-US" dirty="0">
                <a:latin typeface="Bell MT" panose="02020503060305020303" pitchFamily="18" charset="0"/>
              </a:rPr>
              <a:t>df.drop_duplicates(inplace=True)</a:t>
            </a:r>
          </a:p>
          <a:p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B43712-7C39-E3D4-5ECE-C55513ECA46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AA70E-D0AE-D14F-AE5B-A52432755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29" y="0"/>
            <a:ext cx="791005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92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 l="5000" t="-3000" r="5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12" y="300147"/>
            <a:ext cx="10515600" cy="1325563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66" y="1593632"/>
            <a:ext cx="8176046" cy="2657475"/>
          </a:xfrm>
        </p:spPr>
        <p:txBody>
          <a:bodyPr>
            <a:norm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Formating</a:t>
            </a:r>
          </a:p>
          <a:p>
            <a:endParaRPr lang="en-US" b="1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Converted Order Date and Ship Date to datetime format (for analysis by month/year):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9766" y="4445219"/>
            <a:ext cx="8486779" cy="187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Bell MT" panose="02020503060305020303" pitchFamily="18" charset="0"/>
              </a:rPr>
              <a:t>df</a:t>
            </a:r>
            <a:r>
              <a:rPr lang="en-US" b="1" dirty="0">
                <a:latin typeface="Bahnschrift Light Condensed" panose="020B0502040204020203" pitchFamily="34" charset="0"/>
              </a:rPr>
              <a:t>[</a:t>
            </a:r>
            <a:r>
              <a:rPr lang="en-US" b="1" dirty="0">
                <a:latin typeface="Bell MT" panose="02020503060305020303" pitchFamily="18" charset="0"/>
              </a:rPr>
              <a:t>'Order Date</a:t>
            </a:r>
            <a:r>
              <a:rPr lang="en-US" b="1" dirty="0">
                <a:latin typeface="Bahnschrift Light Condensed" panose="020B0502040204020203" pitchFamily="34" charset="0"/>
              </a:rPr>
              <a:t>']</a:t>
            </a:r>
            <a:r>
              <a:rPr lang="en-US" b="1" dirty="0">
                <a:latin typeface="Bell MT" panose="02020503060305020303" pitchFamily="18" charset="0"/>
              </a:rPr>
              <a:t> = pd.to_datetime(df</a:t>
            </a:r>
            <a:r>
              <a:rPr lang="en-US" b="1" dirty="0">
                <a:latin typeface="Bahnschrift Light Condensed" panose="020B0502040204020203" pitchFamily="34" charset="0"/>
              </a:rPr>
              <a:t>[</a:t>
            </a:r>
            <a:r>
              <a:rPr lang="en-US" b="1" dirty="0">
                <a:latin typeface="Bell MT" panose="02020503060305020303" pitchFamily="18" charset="0"/>
              </a:rPr>
              <a:t>'Order Date'</a:t>
            </a:r>
            <a:r>
              <a:rPr lang="en-US" b="1" dirty="0">
                <a:latin typeface="Bahnschrift Light Condensed" panose="020B0502040204020203" pitchFamily="34" charset="0"/>
              </a:rPr>
              <a:t>]</a:t>
            </a:r>
            <a:r>
              <a:rPr lang="en-US" b="1" dirty="0">
                <a:latin typeface="Bell MT" panose="02020503060305020303" pitchFamily="18" charset="0"/>
              </a:rPr>
              <a:t>)</a:t>
            </a:r>
          </a:p>
          <a:p>
            <a:r>
              <a:rPr lang="en-US" b="1" dirty="0">
                <a:latin typeface="Bell MT" panose="02020503060305020303" pitchFamily="18" charset="0"/>
              </a:rPr>
              <a:t>df</a:t>
            </a:r>
            <a:r>
              <a:rPr lang="en-US" b="1" dirty="0">
                <a:latin typeface="Bahnschrift Light Condensed" panose="020B0502040204020203" pitchFamily="34" charset="0"/>
              </a:rPr>
              <a:t>[</a:t>
            </a:r>
            <a:r>
              <a:rPr lang="en-US" b="1" dirty="0">
                <a:latin typeface="Bell MT" panose="02020503060305020303" pitchFamily="18" charset="0"/>
              </a:rPr>
              <a:t>'Ship Date'</a:t>
            </a:r>
            <a:r>
              <a:rPr lang="en-US" b="1" dirty="0">
                <a:latin typeface="Bahnschrift Light Condensed" panose="020B0502040204020203" pitchFamily="34" charset="0"/>
              </a:rPr>
              <a:t>]</a:t>
            </a:r>
            <a:r>
              <a:rPr lang="en-US" b="1" dirty="0">
                <a:latin typeface="Bell MT" panose="02020503060305020303" pitchFamily="18" charset="0"/>
              </a:rPr>
              <a:t> = pd.to_datetime(df</a:t>
            </a:r>
            <a:r>
              <a:rPr lang="en-US" b="1" dirty="0">
                <a:latin typeface="Bahnschrift Light Condensed" panose="020B0502040204020203" pitchFamily="34" charset="0"/>
              </a:rPr>
              <a:t>[</a:t>
            </a:r>
            <a:r>
              <a:rPr lang="en-US" b="1" dirty="0">
                <a:latin typeface="Bell MT" panose="02020503060305020303" pitchFamily="18" charset="0"/>
              </a:rPr>
              <a:t>'Ship Date'</a:t>
            </a:r>
            <a:r>
              <a:rPr lang="en-US" b="1" dirty="0">
                <a:latin typeface="Bahnschrift Light Condensed" panose="020B0502040204020203" pitchFamily="34" charset="0"/>
              </a:rPr>
              <a:t>]</a:t>
            </a:r>
            <a:r>
              <a:rPr lang="en-US" b="1" dirty="0">
                <a:latin typeface="Bell MT" panose="02020503060305020303" pitchFamily="18" charset="0"/>
              </a:rPr>
              <a:t>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422900" y="1690688"/>
            <a:ext cx="3073400" cy="2657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96000" y="1593632"/>
            <a:ext cx="5650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Ensured numerical columns (Sales, Profit, Quantity, Discount) are correctly typed (float or int)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CDB254-EB71-69C7-DADD-300108589FB8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80D0C-E71F-7FD8-A160-332B7754C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29" y="0"/>
            <a:ext cx="791005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6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 l="5000" t="-3000" r="5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Categorical columns (Ship Mode, Segment, Region, Category, Sub-Category) are stored as object (string) type.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If needed for modeling: applied Label Encoding or One-Hot Encoding: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df = pd.get_dummies(df, columns=</a:t>
            </a:r>
            <a:r>
              <a:rPr lang="en-US" dirty="0">
                <a:latin typeface="Bahnschrift Light Condensed" panose="020B0502040204020203" pitchFamily="34" charset="0"/>
              </a:rPr>
              <a:t>[</a:t>
            </a:r>
            <a:r>
              <a:rPr lang="en-US" dirty="0">
                <a:latin typeface="Bell MT" panose="02020503060305020303" pitchFamily="18" charset="0"/>
              </a:rPr>
              <a:t>'Ship Mode', 'Category'</a:t>
            </a:r>
            <a:r>
              <a:rPr lang="en-US" dirty="0">
                <a:latin typeface="Bahnschrift Light Condensed" panose="020B0502040204020203" pitchFamily="34" charset="0"/>
              </a:rPr>
              <a:t>]</a:t>
            </a:r>
            <a:r>
              <a:rPr lang="en-US" dirty="0">
                <a:latin typeface="Bell MT" panose="02020503060305020303" pitchFamily="18" charset="0"/>
              </a:rPr>
              <a:t>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1CFD2E-50C8-9497-5F19-AA68BE093E26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86996-F078-410D-8623-7C4F32231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29" y="0"/>
            <a:ext cx="791005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43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00"/>
            <a:lum/>
          </a:blip>
          <a:srcRect/>
          <a:stretch>
            <a:fillRect l="5000" t="-3000" r="5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789" y="1752600"/>
            <a:ext cx="10532243" cy="3352800"/>
          </a:xfrm>
        </p:spPr>
        <p:txBody>
          <a:bodyPr>
            <a:normAutofit/>
          </a:bodyPr>
          <a:lstStyle/>
          <a:p>
            <a:r>
              <a:rPr lang="en-US" b="1" dirty="0">
                <a:latin typeface="Bahnschrift Light Condensed" panose="020B0502040204020203" pitchFamily="34" charset="0"/>
              </a:rPr>
              <a:t>5</a:t>
            </a:r>
            <a:r>
              <a:rPr lang="en-US" b="1" dirty="0">
                <a:latin typeface="Bell MT" panose="02020503060305020303" pitchFamily="18" charset="0"/>
              </a:rPr>
              <a:t>. Other Preprocessing</a:t>
            </a:r>
          </a:p>
          <a:p>
            <a:r>
              <a:rPr lang="en-US" dirty="0">
                <a:latin typeface="Bell MT" panose="02020503060305020303" pitchFamily="18" charset="0"/>
              </a:rPr>
              <a:t>Checked for negative values (Profit) → important for analysis.Cleaned column names (removed spaces, standardized naming):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df.columns = df.columns.str.strip().str.replace(' ', '_')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F0265-3CB2-F8C3-CE69-557B7023FC53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1B97E-6EE3-628B-ED12-9AE4EB382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29" y="0"/>
            <a:ext cx="791005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5000" t="-3000" r="5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74" y="20425"/>
            <a:ext cx="4610100" cy="32258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Missing Values:</a:t>
            </a:r>
            <a:r>
              <a:rPr lang="en-US" sz="4000" dirty="0">
                <a:latin typeface="Bell MT" panose="02020503060305020303" pitchFamily="18" charset="0"/>
              </a:rPr>
              <a:t> Checked all columns, no missing values found.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77639" y="20425"/>
            <a:ext cx="5550031" cy="3543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askerville Old Face" panose="02020602080505020303" pitchFamily="18" charset="0"/>
              </a:rPr>
              <a:t>Encoding:</a:t>
            </a:r>
            <a:r>
              <a:rPr lang="en-US" sz="4000" dirty="0">
                <a:latin typeface="Bell MT" panose="02020503060305020303" pitchFamily="18" charset="0"/>
              </a:rPr>
              <a:t> Prepared categorical columns for analysis and modeling.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515100" y="3517900"/>
            <a:ext cx="5676900" cy="257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askerville Old Face" panose="02020602080505020303" pitchFamily="18" charset="0"/>
              </a:rPr>
              <a:t>Duplicates:</a:t>
            </a:r>
            <a:r>
              <a:rPr lang="en-US" sz="4000" dirty="0">
                <a:latin typeface="Bell MT" panose="02020503060305020303" pitchFamily="18" charset="0"/>
              </a:rPr>
              <a:t> Examined dataset, no duplicate rows detected.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710087" y="4703975"/>
            <a:ext cx="6019800" cy="1993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askerville Old Face" panose="02020602080505020303" pitchFamily="18" charset="0"/>
              </a:rPr>
              <a:t>Formatting:</a:t>
            </a:r>
            <a:r>
              <a:rPr lang="en-US" sz="4000" dirty="0">
                <a:latin typeface="Bell MT" panose="02020503060305020303" pitchFamily="18" charset="0"/>
              </a:rPr>
              <a:t> Converted dates to datetime and ensured numerical columns have correct types.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93694" y="2495550"/>
            <a:ext cx="4076700" cy="2044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askerville Old Face" panose="02020602080505020303" pitchFamily="18" charset="0"/>
              </a:rPr>
              <a:t>Other Preprocessing:</a:t>
            </a:r>
            <a:r>
              <a:rPr lang="en-US" sz="4000" dirty="0">
                <a:latin typeface="Baskerville Old Face" panose="02020602080505020303" pitchFamily="18" charset="0"/>
              </a:rPr>
              <a:t> </a:t>
            </a:r>
            <a:r>
              <a:rPr lang="en-US" sz="4000" dirty="0">
                <a:latin typeface="Bell MT" panose="02020503060305020303" pitchFamily="18" charset="0"/>
              </a:rPr>
              <a:t>Cleaned column names and verified profit values for accuracy.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9FB8F9-5FB6-6556-0CF3-8EFF57DA872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19218-FCBE-9717-67EE-0051DDE826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29" y="0"/>
            <a:ext cx="791005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0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SQL Analysis (KPIs + Descriptive Analytics)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1159" y="1819029"/>
            <a:ext cx="3276600" cy="2085975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Bell MT" panose="02020503060305020303" pitchFamily="18" charset="0"/>
              </a:rPr>
              <a:t>Total Sales</a:t>
            </a:r>
          </a:p>
          <a:p>
            <a:r>
              <a:rPr lang="en-US" dirty="0">
                <a:latin typeface="Bell MT" panose="02020503060305020303" pitchFamily="18" charset="0"/>
              </a:rPr>
              <a:t>Total Profit</a:t>
            </a:r>
          </a:p>
          <a:p>
            <a:r>
              <a:rPr lang="en-US" dirty="0">
                <a:latin typeface="Bell MT" panose="02020503060305020303" pitchFamily="18" charset="0"/>
              </a:rPr>
              <a:t>Profit Margin</a:t>
            </a:r>
          </a:p>
          <a:p>
            <a:r>
              <a:rPr lang="en-US" dirty="0">
                <a:latin typeface="Bell MT" panose="02020503060305020303" pitchFamily="18" charset="0"/>
              </a:rPr>
              <a:t>Total Quantity Sold</a:t>
            </a:r>
          </a:p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22596" y="1768476"/>
            <a:ext cx="3276600" cy="2424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Regional Performance</a:t>
            </a:r>
          </a:p>
          <a:p>
            <a:r>
              <a:rPr lang="en-US" dirty="0">
                <a:latin typeface="Bell MT" panose="02020503060305020303" pitchFamily="18" charset="0"/>
              </a:rPr>
              <a:t>Profit By region</a:t>
            </a:r>
          </a:p>
          <a:p>
            <a:r>
              <a:rPr lang="en-US" dirty="0">
                <a:latin typeface="Bell MT" panose="02020503060305020303" pitchFamily="18" charset="0"/>
              </a:rPr>
              <a:t>Sales By state</a:t>
            </a:r>
          </a:p>
          <a:p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63859" y="4033345"/>
            <a:ext cx="3276600" cy="2607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Customer </a:t>
            </a:r>
          </a:p>
          <a:p>
            <a:r>
              <a:rPr lang="en-US" dirty="0">
                <a:latin typeface="Bell MT" panose="02020503060305020303" pitchFamily="18" charset="0"/>
              </a:rPr>
              <a:t>Average order value (AOV)</a:t>
            </a:r>
          </a:p>
          <a:p>
            <a:r>
              <a:rPr lang="en-US" dirty="0">
                <a:latin typeface="Bell MT" panose="02020503060305020303" pitchFamily="18" charset="0"/>
              </a:rPr>
              <a:t>Customer Lifetime value (CLV)</a:t>
            </a:r>
          </a:p>
          <a:p>
            <a:r>
              <a:rPr lang="en-US" dirty="0">
                <a:latin typeface="Bell MT" panose="02020503060305020303" pitchFamily="18" charset="0"/>
              </a:rPr>
              <a:t>Top customers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39896" y="4046536"/>
            <a:ext cx="3579563" cy="2607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Average Delivery time Overall</a:t>
            </a:r>
          </a:p>
          <a:p>
            <a:r>
              <a:rPr lang="en-US" dirty="0">
                <a:latin typeface="Bell MT" panose="02020503060305020303" pitchFamily="18" charset="0"/>
              </a:rPr>
              <a:t>Average Delivery time per ship mode</a:t>
            </a:r>
          </a:p>
          <a:p>
            <a:r>
              <a:rPr lang="en-US" dirty="0">
                <a:latin typeface="Bell MT" panose="02020503060305020303" pitchFamily="18" charset="0"/>
              </a:rPr>
              <a:t>Average Delivery time by month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457700" y="4046535"/>
            <a:ext cx="3619500" cy="26076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ll MT" panose="02020503060305020303" pitchFamily="18" charset="0"/>
              </a:rPr>
              <a:t>Ship mode summary</a:t>
            </a:r>
          </a:p>
          <a:p>
            <a:r>
              <a:rPr lang="en-US" dirty="0">
                <a:latin typeface="Bell MT" panose="02020503060305020303" pitchFamily="18" charset="0"/>
              </a:rPr>
              <a:t>Ship mode performance by region</a:t>
            </a:r>
          </a:p>
          <a:p>
            <a:r>
              <a:rPr lang="en-US" dirty="0">
                <a:latin typeface="Bell MT" panose="02020503060305020303" pitchFamily="18" charset="0"/>
              </a:rPr>
              <a:t>Ship mode share of total sales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828B50-F479-0490-0DD5-A52527B1971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961375-A3F8-E93E-7FBC-177E52E16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C3545-4F93-DF22-0625-0DC242BC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0E0DDF6-0B68-8CC0-BC8D-F426D8F5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7" t="18404" r="62031" b="14889"/>
          <a:stretch>
            <a:fillRect/>
          </a:stretch>
        </p:blipFill>
        <p:spPr>
          <a:xfrm>
            <a:off x="798776" y="398121"/>
            <a:ext cx="2011680" cy="60617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10BB37-3647-8E41-D1C7-0F291C83722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D6C3FF-5D5C-3A9F-E0C8-EF6A3DE503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8D7704-1AAC-32AF-29E5-9BA3E2A19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6" t="20371" r="42586" b="64557"/>
          <a:stretch>
            <a:fillRect/>
          </a:stretch>
        </p:blipFill>
        <p:spPr>
          <a:xfrm>
            <a:off x="4822257" y="4504623"/>
            <a:ext cx="2088682" cy="13665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3719F7-4087-84B6-9053-4ED0E1843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11" t="67256" r="42118" b="24194"/>
          <a:stretch>
            <a:fillRect/>
          </a:stretch>
        </p:blipFill>
        <p:spPr>
          <a:xfrm>
            <a:off x="8777248" y="1124421"/>
            <a:ext cx="2281309" cy="791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114DD4-FAB6-FBE1-7734-C140F71B2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3" t="37122" r="24432" b="35037"/>
          <a:stretch>
            <a:fillRect/>
          </a:stretch>
        </p:blipFill>
        <p:spPr>
          <a:xfrm>
            <a:off x="8922740" y="3339966"/>
            <a:ext cx="2088682" cy="24640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FE3B94F-4854-9350-2D3E-F821C9C61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61" y="986785"/>
            <a:ext cx="5303793" cy="2830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Overview of the Database Entities and Relationships </a:t>
            </a:r>
            <a:br>
              <a:rPr lang="ar-EG" b="1" dirty="0">
                <a:latin typeface="Baskerville Old Face" panose="02020602080505020303" pitchFamily="18" charset="0"/>
              </a:rPr>
            </a:br>
            <a:r>
              <a:rPr lang="en-US" b="1" dirty="0">
                <a:latin typeface="Baskerville Old Face" panose="02020602080505020303" pitchFamily="18" charset="0"/>
              </a:rPr>
              <a:t>(Based on SQL Schema)</a:t>
            </a:r>
          </a:p>
        </p:txBody>
      </p:sp>
    </p:spTree>
    <p:extLst>
      <p:ext uri="{BB962C8B-B14F-4D97-AF65-F5344CB8AC3E}">
        <p14:creationId xmlns:p14="http://schemas.microsoft.com/office/powerpoint/2010/main" val="279937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3E15-58EF-66BF-2F51-591F34D5E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80" y="-182880"/>
            <a:ext cx="9144000" cy="1899920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Overview Page</a:t>
            </a:r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Total Sales, Total Profit &amp; Profit Margin</a:t>
            </a:r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40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8A3CE-F5E2-69A2-158B-D3DBAFD73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0" y="1259840"/>
            <a:ext cx="11511280" cy="5313680"/>
          </a:xfrm>
        </p:spPr>
        <p:txBody>
          <a:bodyPr/>
          <a:lstStyle/>
          <a:p>
            <a:pPr algn="l"/>
            <a:endParaRPr lang="ar-SA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These metrics provide a high-level view of the company’s financial performance, indicating how effectively revenue is being converted into profit.</a:t>
            </a:r>
          </a:p>
          <a:p>
            <a:pPr algn="l"/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A healthy profit margin reflects efficient operations and strong pricing strategy.</a:t>
            </a:r>
            <a:endParaRPr lang="ar-SA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endParaRPr lang="ar-SA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endParaRPr lang="ar-SA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endParaRPr lang="ar-SA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endParaRPr lang="en-US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pPr algn="l"/>
            <a:endParaRPr lang="en-US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548385-BFE6-D4D7-5AA7-72C38D6BCA34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AD954-46D6-6513-DAAE-3AFA43EA7D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38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706F-F5C0-AB5E-C09F-4E0A696C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02" y="1123512"/>
            <a:ext cx="11673526" cy="320103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total_sales, 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(profit)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total_profit,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(profit) /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(sales)* 100)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profit_margin_percent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C070E-25C8-420E-7F2C-6A5D68007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95"/>
          <a:stretch>
            <a:fillRect/>
          </a:stretch>
        </p:blipFill>
        <p:spPr>
          <a:xfrm>
            <a:off x="4316213" y="3706989"/>
            <a:ext cx="7498715" cy="21187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C4FE38-277D-7E5B-56FB-61B47625211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67F54-0191-D666-7EF5-21F11D5D4D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2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E6A6-D564-E1A6-2B62-EB33AAE6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2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Total Quantity Sold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BAE5-37B4-0950-382A-F604330D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1828799"/>
            <a:ext cx="11069320" cy="4348163"/>
          </a:xfrm>
        </p:spPr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Represents the total number of product units sold across all orders.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A strong indicator of product demand regardless of price variations.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78F74D-E086-288D-3057-D2F98E04B3E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6F30A-1850-D88F-8F89-EF9B25986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40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E0B8-3069-434D-8B9E-C1A0A0221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67" y="1893063"/>
            <a:ext cx="9382760" cy="223583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(quantity)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total_quantity_sold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98C49-64F6-205E-B8F6-064D95DF9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" b="54684"/>
          <a:stretch>
            <a:fillRect/>
          </a:stretch>
        </p:blipFill>
        <p:spPr>
          <a:xfrm>
            <a:off x="3694812" y="3762178"/>
            <a:ext cx="7741920" cy="176193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93B771-A73B-56F5-37F7-D8D615F7AF12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17E1B-8D48-4399-BF54-BBCEBFEC50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76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A1D8-6F28-F2A3-4FF2-DC45638D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3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Average Discount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FB317-497A-CB56-0A2D-2B344A68C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The mean discount applied across all transactions.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Helps assess reliance on discounting strategies and their potential impact on profitability.</a:t>
            </a:r>
          </a:p>
          <a:p>
            <a:endParaRPr lang="en-US" sz="3600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848718-3CD2-FB9B-0C7D-2A36634423D2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6A522-0E3E-12C7-29CD-869DBCAE48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40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5F35-ECA6-AE53-6603-AB8C937D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77" y="2137364"/>
            <a:ext cx="11503371" cy="180911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AVG</a:t>
            </a:r>
            <a:r>
              <a:rPr lang="en-US" sz="2800" dirty="0">
                <a:latin typeface="Consolas" panose="020B0609020204030204" pitchFamily="49" charset="0"/>
              </a:rPr>
              <a:t>(discount)*100,2)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average_discount_percent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21DED-0EFF-2CCD-07FC-62992676D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2" b="53232"/>
          <a:stretch>
            <a:fillRect/>
          </a:stretch>
        </p:blipFill>
        <p:spPr>
          <a:xfrm>
            <a:off x="4691511" y="3600745"/>
            <a:ext cx="6639508" cy="15745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47B6DE-E370-4BE7-8BFE-5A448B213DD8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3B515-44C7-F944-7E50-3FA04D3559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2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D440-B5D4-AB7D-951C-544DAE5D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REGIONAL PERFORMANCE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4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Profit by Region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2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C997-73F8-FE7A-97FC-9A665AF37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Evaluates how each geographic region contributes to total profit.</a:t>
            </a:r>
          </a:p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Highlights high-performing regions that should be prioritized and low-performing areas that may require operational review.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794438-4286-D408-033F-632E13331D0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1BFAA-C4F2-7737-1C02-ACE85F195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3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9F6C-AC77-331F-0BEF-7A2AF87E8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74317"/>
            <a:ext cx="10515600" cy="669073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latin typeface="Consolas" panose="020B0609020204030204" pitchFamily="49" charset="0"/>
              </a:rPr>
              <a:t> 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c.region,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(f.sales)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total_sales,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(f.profit)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total_profit,  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(f.profit) /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(f.sales) * 100)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profit_margin_percent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FROM </a:t>
            </a:r>
            <a:r>
              <a:rPr lang="en-US" sz="2400" dirty="0">
                <a:latin typeface="Consolas" panose="020B0609020204030204" pitchFamily="49" charset="0"/>
              </a:rPr>
              <a:t>fact_sales f     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400" dirty="0">
                <a:latin typeface="Consolas" panose="020B0609020204030204" pitchFamily="49" charset="0"/>
              </a:rPr>
              <a:t> dim_customer c USING(customer_id)</a:t>
            </a: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400" dirty="0">
                <a:latin typeface="Consolas" panose="020B0609020204030204" pitchFamily="49" charset="0"/>
              </a:rPr>
              <a:t> c.region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400" dirty="0">
                <a:latin typeface="Consolas" panose="020B0609020204030204" pitchFamily="49" charset="0"/>
              </a:rPr>
              <a:t> total_sales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DESC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64F69-CAC0-28E4-0F32-99F42CA21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2"/>
          <a:stretch>
            <a:fillRect/>
          </a:stretch>
        </p:blipFill>
        <p:spPr>
          <a:xfrm>
            <a:off x="3288772" y="2930439"/>
            <a:ext cx="8147960" cy="2743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436252-49E9-501C-98AE-75FBF3A0B6C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40A72-241B-68C0-20D1-FB3308B78E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1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9AF8-019E-CD1A-CA73-C2BAF755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5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Sales by State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56F77-0343-71BC-8C29-A5413D62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Breaks down total revenue at the state level to identify key markets.</a:t>
            </a:r>
          </a:p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Top-selling states often represent the strongest opportunities for expansion and targeted marketing.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A7B836-E47E-521B-FE4B-D7FE8C680C6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1A53C-6197-F64C-0644-F88F8DC3E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85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1770-B4DF-F813-E5C6-CB5F53B6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5" y="2074468"/>
            <a:ext cx="10515600" cy="2493178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c.state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State,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(f.sales)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Total_Sales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 f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latin typeface="Consolas" panose="020B0609020204030204" pitchFamily="49" charset="0"/>
              </a:rPr>
              <a:t> dim_customer c USING (customer_id)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c.state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total_sales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DESC</a:t>
            </a:r>
            <a:r>
              <a:rPr lang="en-US" sz="28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78184-4499-9FD5-ACBB-0DE85F1A01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58" b="6259"/>
          <a:stretch>
            <a:fillRect/>
          </a:stretch>
        </p:blipFill>
        <p:spPr>
          <a:xfrm>
            <a:off x="7253505" y="1117399"/>
            <a:ext cx="3712301" cy="47608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63970C-4A07-4201-CDF1-50BC027FACEA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1C777-1913-E455-8E39-519B36883C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1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7EDA-1B69-2B4A-0466-3CA5D809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CUSTOMER ANALYTICS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6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Average Order Value (AOV)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6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70F6-6A26-DD28-1FA1-BC97C8F8E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latin typeface="Bell MT" panose="02020503060305020303" pitchFamily="18" charset="0"/>
              </a:rPr>
              <a:t>Measures the average revenue generated per order.</a:t>
            </a:r>
            <a:br>
              <a:rPr lang="en-US" sz="3200" dirty="0">
                <a:latin typeface="Bell MT" panose="02020503060305020303" pitchFamily="18" charset="0"/>
              </a:rPr>
            </a:br>
            <a:r>
              <a:rPr lang="en-US" sz="3200" dirty="0">
                <a:latin typeface="Bell MT" panose="02020503060305020303" pitchFamily="18" charset="0"/>
              </a:rPr>
              <a:t>Formula</a:t>
            </a: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: </a:t>
            </a:r>
            <a:r>
              <a:rPr lang="en-US" sz="3200" i="1" dirty="0">
                <a:solidFill>
                  <a:schemeClr val="accent5"/>
                </a:solidFill>
                <a:latin typeface="Bell MT" panose="02020503060305020303" pitchFamily="18" charset="0"/>
              </a:rPr>
              <a:t>Total Sales ÷ Number of Orders</a:t>
            </a:r>
            <a:endParaRPr lang="en-US" sz="3200" dirty="0">
              <a:solidFill>
                <a:schemeClr val="accent5"/>
              </a:solidFill>
              <a:latin typeface="Bell MT" panose="02020503060305020303" pitchFamily="18" charset="0"/>
            </a:endParaRPr>
          </a:p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Higher AOV indicates customers are purchasing </a:t>
            </a:r>
            <a:br>
              <a:rPr lang="ar-EG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higher</a:t>
            </a:r>
            <a:r>
              <a:rPr lang="ar-EG" sz="3200" dirty="0">
                <a:solidFill>
                  <a:schemeClr val="accent5"/>
                </a:solidFill>
                <a:latin typeface="Bell MT" panose="02020503060305020303" pitchFamily="18" charset="0"/>
              </a:rPr>
              <a:t> </a:t>
            </a: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value items or larger baskets.</a:t>
            </a:r>
          </a:p>
          <a:p>
            <a:endParaRPr lang="en-US" sz="3200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762E37-78D2-4B9D-7C9F-EBF37A08495E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A3272-BD70-6D3E-7600-7DC00D2024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5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2B6B-02A0-1F43-3EFB-A282D52B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1920648"/>
            <a:ext cx="11811000" cy="238823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 /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COUNT</a:t>
            </a:r>
            <a:r>
              <a:rPr lang="en-US" sz="2800" dirty="0">
                <a:latin typeface="Consolas" panose="020B0609020204030204" pitchFamily="49" charset="0"/>
              </a:rPr>
              <a:t>(DISTINCT order_id)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avg_order_value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F1E3A-F5C7-AD6A-1C7F-DCD85AA57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81" b="53405"/>
          <a:stretch>
            <a:fillRect/>
          </a:stretch>
        </p:blipFill>
        <p:spPr>
          <a:xfrm>
            <a:off x="4259741" y="3672139"/>
            <a:ext cx="4336545" cy="17663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0D4E30-73A5-79EE-308F-777C1C35C0E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2C9D4-3131-2825-3442-2482C5FB0C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56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E719-67B5-4A8A-E15A-552F9414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7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Customer Lifetime Value (CLV)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6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4F889-593F-0D67-1503-211292E05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  <a:t>Description:</a:t>
            </a:r>
            <a:br>
              <a:rPr lang="en-US" sz="3200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</a:br>
            <a:r>
              <a:rPr lang="en-US" sz="3200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  <a:t>Represents the total revenue generated by a customer throughout the dataset period.</a:t>
            </a:r>
          </a:p>
          <a:p>
            <a:r>
              <a:rPr lang="en-US" sz="3200" b="1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  <a:t>Insight:</a:t>
            </a:r>
            <a:br>
              <a:rPr lang="en-US" sz="3200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</a:br>
            <a:r>
              <a:rPr lang="en-US" sz="3200" dirty="0">
                <a:solidFill>
                  <a:schemeClr val="accent5"/>
                </a:solidFill>
                <a:latin typeface="Bahnschrift Light Condensed" panose="020B0502040204020203" pitchFamily="34" charset="0"/>
              </a:rPr>
              <a:t>Essential for identifying loyal, high-value customers worth retaining through personalized engagement.</a:t>
            </a:r>
          </a:p>
          <a:p>
            <a:endParaRPr lang="en-US" dirty="0">
              <a:solidFill>
                <a:schemeClr val="accent5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127E47-51EB-B886-F814-736AF8E16F50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83508-7157-BEE0-9040-6304EFB1A6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50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C8E4-895D-D45E-AD77-CC28E01B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32" y="2192473"/>
            <a:ext cx="5338154" cy="210375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customer_id,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total_sales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customer_id;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2A679-CA9B-3D28-3A28-9675937A8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6" b="6270"/>
          <a:stretch>
            <a:fillRect/>
          </a:stretch>
        </p:blipFill>
        <p:spPr>
          <a:xfrm>
            <a:off x="6367912" y="428159"/>
            <a:ext cx="3722914" cy="579091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A48B52-0ED7-F2EF-BBA8-A2724B680223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55A1A-FF66-6582-C7FA-AD501252F0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62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62BB-6324-947F-08BB-FEF7E667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8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Top Customers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A2ADF-7662-CA07-0849-A90B9BA1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Highlights customers with the highest spending.</a:t>
            </a:r>
          </a:p>
          <a:p>
            <a:r>
              <a:rPr lang="en-US" sz="32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accent5"/>
                </a:solidFill>
                <a:latin typeface="Bell MT" panose="02020503060305020303" pitchFamily="18" charset="0"/>
              </a:rPr>
              <a:t>These individuals drive a significant share of revenue and should be prioritized for loyalty programs and premium services.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85A9DC-2CCE-81EE-19ED-39CED028A018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2A0BA-1D45-90F5-91FE-93191DA5E1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57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E10D-F42D-E300-158F-99E65095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95502"/>
            <a:ext cx="10515600" cy="391223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customer_id,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total_sales,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COUNT</a:t>
            </a:r>
            <a:r>
              <a:rPr lang="en-US" sz="2800" dirty="0">
                <a:latin typeface="Consolas" panose="020B0609020204030204" pitchFamily="49" charset="0"/>
              </a:rPr>
              <a:t>(DISTINCT order_id)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total_orders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customer_id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total_sales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DESC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LIMIT</a:t>
            </a:r>
            <a:r>
              <a:rPr lang="en-US" sz="2800" dirty="0">
                <a:latin typeface="Consolas" panose="020B0609020204030204" pitchFamily="49" charset="0"/>
              </a:rPr>
              <a:t> 10;</a:t>
            </a:r>
            <a:r>
              <a:rPr lang="en-US" sz="3200" dirty="0">
                <a:latin typeface="Consolas" panose="020B0609020204030204" pitchFamily="49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9B7CC-D568-972C-2EDA-632C51BF8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5" b="16664"/>
          <a:stretch>
            <a:fillRect/>
          </a:stretch>
        </p:blipFill>
        <p:spPr>
          <a:xfrm>
            <a:off x="6292206" y="2351619"/>
            <a:ext cx="4673600" cy="424621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C202D0-4055-CD12-5045-076BA7D4096E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18D9C-EE27-97DC-CD2E-8D55B12474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29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0A2F-5B73-3AAE-10E2-FE19CB2A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OPERATIONAL INSIGHTS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9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Average Delivery Time (Overall)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2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25F5-6FC2-8C6B-E6B4-5626B6D54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The average number of days taken to ship an order after it’s placed.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Reflects operational efficiency and directly influences customer satisfaction.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09E28C-F612-65DF-BA84-9123B4E983C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C5D5C-090B-30A4-63FB-D73A3B2D35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26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47B9-26C8-AECA-8C88-36234C38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8" y="21034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3200" dirty="0">
                <a:latin typeface="Consolas" panose="020B0609020204030204" pitchFamily="49" charset="0"/>
              </a:rPr>
              <a:t>     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AVG</a:t>
            </a:r>
            <a:r>
              <a:rPr lang="en-US" sz="3200" dirty="0">
                <a:latin typeface="Consolas" panose="020B0609020204030204" pitchFamily="49" charset="0"/>
              </a:rPr>
              <a:t>(delivery_days), 2) 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3200" dirty="0">
                <a:latin typeface="Consolas" panose="020B0609020204030204" pitchFamily="49" charset="0"/>
              </a:rPr>
              <a:t> avg_delivery_days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3200" dirty="0">
                <a:latin typeface="Consolas" panose="020B0609020204030204" pitchFamily="49" charset="0"/>
              </a:rPr>
              <a:t> fact_sales;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F88D0-4F1D-8BE5-C47E-FD2B7E704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03" b="56547"/>
          <a:stretch>
            <a:fillRect/>
          </a:stretch>
        </p:blipFill>
        <p:spPr>
          <a:xfrm>
            <a:off x="6096000" y="3115991"/>
            <a:ext cx="4211184" cy="18805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F28D64-B32A-76F1-F6E9-C80DFF81E8C4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2CD13-D271-B7A0-B9D2-C152556C6F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0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2473-5B87-FEF3-C819-C6EAD6E1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10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Average Delivery Time per Ship Mode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6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FFB4C-2FE8-8E35-7DF7-0F171D033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Compares delivery speed across shipping modes (Standard, Second Class, First Class, Same Day).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Identifies the most efficient shipping methods and those that may require optimization.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498091-7584-9225-3D9B-AEDE36C8C273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D0533-54D9-BE4A-91D5-8D429B1126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02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4977-FD53-AFA7-E8D1-22B933ED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057" y="956173"/>
            <a:ext cx="10515600" cy="331279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s.ship_mode_name,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800" dirty="0">
                <a:latin typeface="Consolas" panose="020B0609020204030204" pitchFamily="49" charset="0"/>
              </a:rPr>
              <a:t>(AVG(f.delivery_days), 2)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avg_delivery_days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 f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latin typeface="Consolas" panose="020B0609020204030204" pitchFamily="49" charset="0"/>
              </a:rPr>
              <a:t> dim_shipmode s     </a:t>
            </a:r>
            <a:br>
              <a:rPr lang="ar-EG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ON</a:t>
            </a:r>
            <a:r>
              <a:rPr lang="en-US" sz="2800" dirty="0">
                <a:latin typeface="Consolas" panose="020B0609020204030204" pitchFamily="49" charset="0"/>
              </a:rPr>
              <a:t> f.ship_mode = s.ship_mode_name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s.ship_mode_name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avg_delivery_days;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A8CCA-3BD9-2804-8A14-97968DC61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30" b="23426"/>
          <a:stretch>
            <a:fillRect/>
          </a:stretch>
        </p:blipFill>
        <p:spPr>
          <a:xfrm>
            <a:off x="5837965" y="3526246"/>
            <a:ext cx="5962149" cy="271126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459C03-510B-98CF-437E-FB2EA8B22DC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7B7AA-B38C-39B9-E6EA-62F4C2702F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72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EAE7-9BCE-B77A-C72B-91B2104A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11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Average Delivery Time by Month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2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1AEB-8C20-1614-AE49-76AB19E8D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Tracks how delivery performance changes throughout the year.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Useful for identifying seasonal delays or peak-pressure periods in logistics.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C08218-0F87-1DFC-1E86-08081C7A3C9D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2CDC3-02A9-4BD6-F11D-649CC09BE8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9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F4F1-4206-FD8E-4178-6A3E112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23" y="675640"/>
            <a:ext cx="10515600" cy="275336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3200" dirty="0">
                <a:latin typeface="Consolas" panose="020B0609020204030204" pitchFamily="49" charset="0"/>
              </a:rPr>
              <a:t>     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order_year,    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order_month,    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AVG</a:t>
            </a:r>
            <a:r>
              <a:rPr lang="en-US" sz="3200" dirty="0">
                <a:latin typeface="Consolas" panose="020B0609020204030204" pitchFamily="49" charset="0"/>
              </a:rPr>
              <a:t>(delivery_days), 2) 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3200" dirty="0">
                <a:latin typeface="Consolas" panose="020B0609020204030204" pitchFamily="49" charset="0"/>
              </a:rPr>
              <a:t> avg_delivery_days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3200" dirty="0">
                <a:latin typeface="Consolas" panose="020B0609020204030204" pitchFamily="49" charset="0"/>
              </a:rPr>
              <a:t> fact_sales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3200" dirty="0">
                <a:latin typeface="Consolas" panose="020B0609020204030204" pitchFamily="49" charset="0"/>
              </a:rPr>
              <a:t> order_year, order_month</a:t>
            </a:r>
            <a:br>
              <a:rPr lang="ar-SA" sz="3200" dirty="0"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3200" dirty="0"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3200" dirty="0">
                <a:latin typeface="Consolas" panose="020B0609020204030204" pitchFamily="49" charset="0"/>
              </a:rPr>
              <a:t> order_year, order_month;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70811-C759-81C6-965F-940BEB78B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70" b="7280"/>
          <a:stretch>
            <a:fillRect/>
          </a:stretch>
        </p:blipFill>
        <p:spPr>
          <a:xfrm>
            <a:off x="7180217" y="2319865"/>
            <a:ext cx="4837611" cy="43530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BA644B-0657-2AD6-23D8-097159D4E751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3205F-9280-4714-4095-3882C34DA9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21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D867-BB53-37C4-67C1-B45B2D85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SHIP MODE PERFORMANCE</a:t>
            </a:r>
            <a:br>
              <a:rPr lang="ar-SA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12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Ship Mode Summary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2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F3CB-3EC3-D1A3-6552-922E41E9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Provides a consolidated view of orders, sales, profit, and average delivery time for each shipping mode.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Reveals whether the most frequently used shipping method is also the most profitable.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06FF2A-6AC8-02D7-5A8E-E760F1EF7C2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E7545-11DD-24A4-895F-9E903EF1FC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90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6F35-BC9A-FE55-159B-BD2BE636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32" y="380624"/>
            <a:ext cx="10515600" cy="369630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latin typeface="Consolas" panose="020B0609020204030204" pitchFamily="49" charset="0"/>
              </a:rPr>
              <a:t>     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s.ship_mode_name,    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COUNT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DISTINCT</a:t>
            </a:r>
            <a:r>
              <a:rPr lang="en-US" sz="2400" dirty="0">
                <a:latin typeface="Consolas" panose="020B0609020204030204" pitchFamily="49" charset="0"/>
              </a:rPr>
              <a:t> f.order_id)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total_orders,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COALESCE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(f.sales),0),2)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total_sales,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COALESCE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400" dirty="0">
                <a:latin typeface="Consolas" panose="020B0609020204030204" pitchFamily="49" charset="0"/>
              </a:rPr>
              <a:t>(f.profit),0),2)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total_profit,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AVG</a:t>
            </a:r>
            <a:r>
              <a:rPr lang="en-US" sz="2400" dirty="0">
                <a:latin typeface="Consolas" panose="020B0609020204030204" pitchFamily="49" charset="0"/>
              </a:rPr>
              <a:t>(f.delivery_days),2)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latin typeface="Consolas" panose="020B0609020204030204" pitchFamily="49" charset="0"/>
              </a:rPr>
              <a:t> avg_delivery_days</a:t>
            </a:r>
            <a:r>
              <a:rPr lang="ar-SA" sz="2400" dirty="0">
                <a:latin typeface="Consolas" panose="020B0609020204030204" pitchFamily="49" charset="0"/>
              </a:rPr>
              <a:t> 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latin typeface="Consolas" panose="020B0609020204030204" pitchFamily="49" charset="0"/>
              </a:rPr>
              <a:t> fact_sales f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400" dirty="0">
                <a:latin typeface="Consolas" panose="020B0609020204030204" pitchFamily="49" charset="0"/>
              </a:rPr>
              <a:t> dim_shipmode s 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ON</a:t>
            </a:r>
            <a:r>
              <a:rPr lang="en-US" sz="2400" dirty="0">
                <a:latin typeface="Consolas" panose="020B0609020204030204" pitchFamily="49" charset="0"/>
              </a:rPr>
              <a:t> f.ship_mode = s.ship_mode_name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400" dirty="0">
                <a:latin typeface="Consolas" panose="020B0609020204030204" pitchFamily="49" charset="0"/>
              </a:rPr>
              <a:t> s.ship_mode_name</a:t>
            </a:r>
            <a:br>
              <a:rPr lang="ar-SA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400" dirty="0">
                <a:latin typeface="Consolas" panose="020B0609020204030204" pitchFamily="49" charset="0"/>
              </a:rPr>
              <a:t> total_sales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DESC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8CA4A-828B-09DD-3DB0-0A3ED4D88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2" b="26664"/>
          <a:stretch>
            <a:fillRect/>
          </a:stretch>
        </p:blipFill>
        <p:spPr>
          <a:xfrm>
            <a:off x="921132" y="4076928"/>
            <a:ext cx="10338725" cy="245509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0A2C98-4CFE-05E3-2F65-9DD3C5CA407E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79B85-B5E8-40BD-4B69-7284FB3D1A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43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2C36-2DFE-DAFF-2AFF-1E24C484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13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Ship Mode Performance by Region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32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1468-C50D-F09E-CD1A-399885F90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Analyzes the effectiveness of each ship mode across different regions.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Shows where specific shipping options are more successful and where adjustments may be needed.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41D0B3-582E-B8D0-AD5E-5F50753C9AD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230C0-415A-4C2E-3BD9-94C3B36124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94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31C4-8715-5C8D-DBA4-7EEEB901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" y="579259"/>
            <a:ext cx="12181115" cy="444994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latin typeface="Consolas" panose="020B0609020204030204" pitchFamily="49" charset="0"/>
              </a:rPr>
              <a:t>    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c.region,</a:t>
            </a:r>
            <a:br>
              <a:rPr lang="ar-EG" sz="2000" dirty="0">
                <a:latin typeface="Consolas" panose="020B0609020204030204" pitchFamily="49" charset="0"/>
              </a:rPr>
            </a:br>
            <a:r>
              <a:rPr lang="en-US" sz="2000" dirty="0" err="1">
                <a:latin typeface="Consolas" panose="020B0609020204030204" pitchFamily="49" charset="0"/>
              </a:rPr>
              <a:t>s.ship_mode_name</a:t>
            </a:r>
            <a:r>
              <a:rPr lang="en-US" sz="2000" dirty="0">
                <a:latin typeface="Consolas" panose="020B0609020204030204" pitchFamily="49" charset="0"/>
              </a:rPr>
              <a:t>,    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COUNT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DISTINCT</a:t>
            </a:r>
            <a:r>
              <a:rPr lang="en-US" sz="2000" dirty="0">
                <a:latin typeface="Consolas" panose="020B0609020204030204" pitchFamily="49" charset="0"/>
              </a:rPr>
              <a:t> f.order_id)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latin typeface="Consolas" panose="020B0609020204030204" pitchFamily="49" charset="0"/>
              </a:rPr>
              <a:t> total_orders,    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COALESCE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000" dirty="0">
                <a:latin typeface="Consolas" panose="020B0609020204030204" pitchFamily="49" charset="0"/>
              </a:rPr>
              <a:t>(f.sales),0),2)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latin typeface="Consolas" panose="020B0609020204030204" pitchFamily="49" charset="0"/>
              </a:rPr>
              <a:t> total_sales,    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COALESCE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000" dirty="0">
                <a:latin typeface="Consolas" panose="020B0609020204030204" pitchFamily="49" charset="0"/>
              </a:rPr>
              <a:t>(f.profit),0),2)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latin typeface="Consolas" panose="020B0609020204030204" pitchFamily="49" charset="0"/>
              </a:rPr>
              <a:t> total_profit,    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AVG</a:t>
            </a:r>
            <a:r>
              <a:rPr lang="en-US" sz="2000" dirty="0">
                <a:latin typeface="Consolas" panose="020B0609020204030204" pitchFamily="49" charset="0"/>
              </a:rPr>
              <a:t>(f.delivery_days),2)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avg_delivery_days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latin typeface="Consolas" panose="020B0609020204030204" pitchFamily="49" charset="0"/>
              </a:rPr>
              <a:t> fact_sales f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000" dirty="0">
                <a:latin typeface="Consolas" panose="020B0609020204030204" pitchFamily="49" charset="0"/>
              </a:rPr>
              <a:t> dim_customer c     </a:t>
            </a:r>
            <a:br>
              <a:rPr lang="ar-EG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ON</a:t>
            </a:r>
            <a:r>
              <a:rPr lang="en-US" sz="2000" dirty="0">
                <a:latin typeface="Consolas" panose="020B0609020204030204" pitchFamily="49" charset="0"/>
              </a:rPr>
              <a:t> f.customer_id = c.customer_id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000" dirty="0">
                <a:latin typeface="Consolas" panose="020B0609020204030204" pitchFamily="49" charset="0"/>
              </a:rPr>
              <a:t> dim_shipmode s     </a:t>
            </a:r>
            <a:br>
              <a:rPr lang="ar-EG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ON</a:t>
            </a:r>
            <a:r>
              <a:rPr lang="en-US" sz="2000" dirty="0">
                <a:latin typeface="Consolas" panose="020B0609020204030204" pitchFamily="49" charset="0"/>
              </a:rPr>
              <a:t> f.ship_mode = s.ship_mode_name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000" dirty="0">
                <a:latin typeface="Consolas" panose="020B0609020204030204" pitchFamily="49" charset="0"/>
              </a:rPr>
              <a:t> c.region, s.ship_mode_name</a:t>
            </a:r>
            <a:br>
              <a:rPr lang="ar-SA" sz="2000" dirty="0"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000" dirty="0">
                <a:latin typeface="Consolas" panose="020B0609020204030204" pitchFamily="49" charset="0"/>
              </a:rPr>
              <a:t> c.region, total_sales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DESC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F8F7D-FB12-0EA5-5124-DDFFFCE61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2"/>
          <a:stretch>
            <a:fillRect/>
          </a:stretch>
        </p:blipFill>
        <p:spPr>
          <a:xfrm>
            <a:off x="5437777" y="3013166"/>
            <a:ext cx="6500223" cy="275821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BB8AA7-5A7A-0757-4CF9-90C68E513F44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BAA19-38C2-06BC-7D35-29B30C5862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532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606A-3993-D2A7-66D1-BD1604E9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14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. Ship Mode Share of Total Sales (%)</a:t>
            </a:r>
            <a:b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sz="28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6396-C7E0-4A5C-DE91-53D2EC4F1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Description: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Measures each shipping mode’s contribution to total revenue.</a:t>
            </a:r>
          </a:p>
          <a:p>
            <a:r>
              <a:rPr lang="en-US" sz="3600" b="1" dirty="0">
                <a:solidFill>
                  <a:schemeClr val="accent5"/>
                </a:solidFill>
                <a:latin typeface="Bell MT" panose="02020503060305020303" pitchFamily="18" charset="0"/>
              </a:rPr>
              <a:t>Insight:</a:t>
            </a:r>
            <a:b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Bell MT" panose="02020503060305020303" pitchFamily="18" charset="0"/>
              </a:rPr>
              <a:t>Helps understand customer shipping preferences and how they impact overall sales distribution.</a:t>
            </a:r>
          </a:p>
          <a:p>
            <a:endParaRPr lang="en-US" dirty="0">
              <a:solidFill>
                <a:schemeClr val="accent5"/>
              </a:solidFill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34277A-40E0-521A-215D-E47663829E1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CFEBC-F981-10F0-2DC0-D412D10D21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35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6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4904-86E9-F072-B6A5-856EB6D2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" y="837389"/>
            <a:ext cx="10515600" cy="3343275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 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s.ship_mode_name, 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(f.sales),2)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total_sales,   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CONCAT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ROUND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(f.sales) * 100 /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NULLIF</a:t>
            </a:r>
            <a:r>
              <a:rPr lang="en-US" sz="2800" dirty="0">
                <a:latin typeface="Consolas" panose="020B0609020204030204" pitchFamily="49" charset="0"/>
              </a:rPr>
              <a:t>((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</a:rPr>
              <a:t>(sales) 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fact_sales),0),2), '%')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pct_of_total_sales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latin typeface="Consolas" panose="020B0609020204030204" pitchFamily="49" charset="0"/>
              </a:rPr>
              <a:t> fact_sales f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latin typeface="Consolas" panose="020B0609020204030204" pitchFamily="49" charset="0"/>
              </a:rPr>
              <a:t> dim_shipmode s    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ON</a:t>
            </a:r>
            <a:r>
              <a:rPr lang="en-US" sz="2800" dirty="0">
                <a:latin typeface="Consolas" panose="020B0609020204030204" pitchFamily="49" charset="0"/>
              </a:rPr>
              <a:t> f.ship_mode = s.ship_mode_name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GROUP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s.ship_mode_name</a:t>
            </a:r>
            <a:br>
              <a:rPr lang="ar-SA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ORDER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BY</a:t>
            </a:r>
            <a:r>
              <a:rPr lang="en-US" sz="2800" dirty="0">
                <a:latin typeface="Consolas" panose="020B0609020204030204" pitchFamily="49" charset="0"/>
              </a:rPr>
              <a:t> total_sales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DESC</a:t>
            </a:r>
            <a:r>
              <a:rPr lang="en-US" sz="28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09F2B-CE92-B4CE-0D1A-B39B8BEF6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34"/>
          <a:stretch>
            <a:fillRect/>
          </a:stretch>
        </p:blipFill>
        <p:spPr>
          <a:xfrm>
            <a:off x="4832654" y="3870183"/>
            <a:ext cx="6991350" cy="25306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CB3C66-3D59-0D74-5105-61260985F86D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B5B8B-A9A3-4AD9-6E65-4AAA6245F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6" y="-104463"/>
            <a:ext cx="941852" cy="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26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1004"/>
            <a:ext cx="10515600" cy="4867887"/>
          </a:xfrm>
        </p:spPr>
        <p:txBody>
          <a:bodyPr>
            <a:normAutofit/>
          </a:bodyPr>
          <a:lstStyle/>
          <a:p>
            <a:pPr algn="ctr"/>
            <a:r>
              <a:rPr lang="en-US" sz="115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Visualization</a:t>
            </a:r>
            <a:endParaRPr lang="en-US" sz="11500" dirty="0">
              <a:latin typeface="Baskerville Old Face" panose="020206020805050203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646AAA-3880-BDCC-AC42-6B57183071C3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CE953-C290-CA58-1817-3B77EE24AF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94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6B26D1-58E0-2C9A-6FAA-1A3327E9A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37" y="246185"/>
            <a:ext cx="4439270" cy="65297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188" y="392392"/>
            <a:ext cx="6291712" cy="1883893"/>
          </a:xfrm>
        </p:spPr>
        <p:txBody>
          <a:bodyPr>
            <a:normAutofit/>
          </a:bodyPr>
          <a:lstStyle/>
          <a:p>
            <a:r>
              <a:rPr lang="en-US" b="1">
                <a:latin typeface="Baskerville Old Face" panose="02020602080505020303" pitchFamily="18" charset="0"/>
              </a:rPr>
              <a:t>Company Growth and Key Categories</a:t>
            </a:r>
            <a:endParaRPr lang="en-US" b="1" dirty="0">
              <a:latin typeface="Baskerville Old Face" panose="020206020805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94"/>
          <a:stretch/>
        </p:blipFill>
        <p:spPr>
          <a:xfrm>
            <a:off x="6871112" y="3670676"/>
            <a:ext cx="5201376" cy="30347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33400" y="4949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017607" y="2900266"/>
            <a:ext cx="5866293" cy="1231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Bell MT" panose="02020503060305020303" pitchFamily="18" charset="0"/>
              </a:rPr>
              <a:t>Steady Growth Over the Past </a:t>
            </a:r>
            <a:r>
              <a:rPr lang="en-US" sz="1600" dirty="0">
                <a:latin typeface="Bahnschrift Light Condensed" panose="020B0502040204020203" pitchFamily="34" charset="0"/>
              </a:rPr>
              <a:t>3</a:t>
            </a:r>
            <a:r>
              <a:rPr lang="en-US" sz="1600" dirty="0">
                <a:latin typeface="Bell MT" panose="02020503060305020303" pitchFamily="18" charset="0"/>
              </a:rPr>
              <a:t> years</a:t>
            </a:r>
          </a:p>
          <a:p>
            <a:r>
              <a:rPr lang="en-US" sz="1600" dirty="0">
                <a:latin typeface="Bell MT" panose="02020503060305020303" pitchFamily="18" charset="0"/>
              </a:rPr>
              <a:t>Largest jump in sales occurred between </a:t>
            </a:r>
            <a:r>
              <a:rPr lang="en-US" sz="1600" dirty="0">
                <a:latin typeface="Bahnschrift Light Condensed" panose="020B0502040204020203" pitchFamily="34" charset="0"/>
              </a:rPr>
              <a:t>2015</a:t>
            </a:r>
            <a:r>
              <a:rPr lang="en-US" sz="1600" dirty="0">
                <a:latin typeface="Bell MT" panose="02020503060305020303" pitchFamily="18" charset="0"/>
              </a:rPr>
              <a:t> and </a:t>
            </a:r>
            <a:r>
              <a:rPr lang="en-US" sz="1600" dirty="0">
                <a:latin typeface="Bahnschrift Light Condensed" panose="020B0502040204020203" pitchFamily="34" charset="0"/>
              </a:rPr>
              <a:t>2016</a:t>
            </a:r>
            <a:r>
              <a:rPr lang="en-US" sz="1600" dirty="0">
                <a:latin typeface="Bell MT" panose="02020503060305020303" pitchFamily="18" charset="0"/>
              </a:rPr>
              <a:t> marking a significant rebound after a slight dip</a:t>
            </a:r>
          </a:p>
          <a:p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62007" y="5541961"/>
            <a:ext cx="2258386" cy="116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Bell MT" panose="02020503060305020303" pitchFamily="18" charset="0"/>
              </a:rPr>
              <a:t>The business is consumer driven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2222088" y="1295400"/>
            <a:ext cx="1360098" cy="3356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ell MT" panose="02020503060305020303" pitchFamily="18" charset="0"/>
              </a:rPr>
              <a:t>Office Supplies drives the majority of Quantity Sold</a:t>
            </a:r>
          </a:p>
        </p:txBody>
      </p:sp>
    </p:spTree>
    <p:extLst>
      <p:ext uri="{BB962C8B-B14F-4D97-AF65-F5344CB8AC3E}">
        <p14:creationId xmlns:p14="http://schemas.microsoft.com/office/powerpoint/2010/main" val="4205659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096000" y="144637"/>
            <a:ext cx="5859501" cy="3563856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latin typeface="Baskerville Old Face" panose="02020602080505020303" pitchFamily="18" charset="0"/>
              </a:rPr>
              <a:t>Profit Drivers Region and Product Contribution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760271" y="5295189"/>
            <a:ext cx="5195230" cy="581819"/>
          </a:xfrm>
        </p:spPr>
        <p:txBody>
          <a:bodyPr>
            <a:noAutofit/>
          </a:bodyPr>
          <a:lstStyle/>
          <a:p>
            <a:r>
              <a:rPr lang="en-US" sz="1800" dirty="0">
                <a:latin typeface="Bell MT" panose="02020503060305020303" pitchFamily="18" charset="0"/>
              </a:rPr>
              <a:t>The </a:t>
            </a:r>
            <a:r>
              <a:rPr lang="en-US" sz="1800" b="1" dirty="0">
                <a:latin typeface="Bell MT" panose="02020503060305020303" pitchFamily="18" charset="0"/>
              </a:rPr>
              <a:t>East</a:t>
            </a:r>
            <a:r>
              <a:rPr lang="en-US" sz="1800" dirty="0">
                <a:latin typeface="Bell MT" panose="02020503060305020303" pitchFamily="18" charset="0"/>
              </a:rPr>
              <a:t> region's high efficiency is driven by its dominant profit contribution from </a:t>
            </a:r>
            <a:r>
              <a:rPr lang="en-US" sz="1800" b="1" dirty="0">
                <a:latin typeface="Bell MT" panose="02020503060305020303" pitchFamily="18" charset="0"/>
              </a:rPr>
              <a:t>Technology</a:t>
            </a:r>
            <a:endParaRPr lang="en-US" sz="1800" dirty="0">
              <a:latin typeface="Bell MT" panose="02020503060305020303" pitchFamily="18" charset="0"/>
            </a:endParaRPr>
          </a:p>
          <a:p>
            <a:endParaRPr lang="en-US" sz="1800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22713"/>
            <a:ext cx="6760270" cy="287602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23" y="666662"/>
            <a:ext cx="4732877" cy="2692844"/>
          </a:xfrm>
          <a:prstGeom prst="rect">
            <a:avLst/>
          </a:prstGeom>
        </p:spPr>
      </p:pic>
      <p:sp>
        <p:nvSpPr>
          <p:cNvPr id="9" name="Subtitle 7"/>
          <p:cNvSpPr txBox="1">
            <a:spLocks/>
          </p:cNvSpPr>
          <p:nvPr/>
        </p:nvSpPr>
        <p:spPr>
          <a:xfrm>
            <a:off x="6760271" y="4405313"/>
            <a:ext cx="5195230" cy="774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Bell MT" panose="02020503060305020303" pitchFamily="18" charset="0"/>
              </a:rPr>
              <a:t>The </a:t>
            </a:r>
            <a:r>
              <a:rPr lang="en-US" sz="1800" b="1" dirty="0">
                <a:latin typeface="Bell MT" panose="02020503060305020303" pitchFamily="18" charset="0"/>
              </a:rPr>
              <a:t>West</a:t>
            </a:r>
            <a:r>
              <a:rPr lang="en-US" sz="1800" dirty="0">
                <a:latin typeface="Bell MT" panose="02020503060305020303" pitchFamily="18" charset="0"/>
              </a:rPr>
              <a:t> generates </a:t>
            </a:r>
            <a:r>
              <a:rPr lang="en-US" sz="1800" b="1" dirty="0">
                <a:latin typeface="Bell MT" panose="02020503060305020303" pitchFamily="18" charset="0"/>
              </a:rPr>
              <a:t>nearly equal profit</a:t>
            </a:r>
            <a:r>
              <a:rPr lang="en-US" sz="1800" dirty="0">
                <a:latin typeface="Bell MT" panose="02020503060305020303" pitchFamily="18" charset="0"/>
              </a:rPr>
              <a:t> from both </a:t>
            </a:r>
            <a:r>
              <a:rPr lang="en-US" sz="1800" b="1" dirty="0">
                <a:latin typeface="Bell MT" panose="02020503060305020303" pitchFamily="18" charset="0"/>
              </a:rPr>
              <a:t>Office Supplies</a:t>
            </a:r>
            <a:r>
              <a:rPr lang="en-US" sz="1800" dirty="0">
                <a:latin typeface="Bell MT" panose="02020503060305020303" pitchFamily="18" charset="0"/>
              </a:rPr>
              <a:t> and </a:t>
            </a:r>
            <a:r>
              <a:rPr lang="en-US" sz="1800" b="1" dirty="0">
                <a:latin typeface="Bell MT" panose="02020503060305020303" pitchFamily="18" charset="0"/>
              </a:rPr>
              <a:t>Technology</a:t>
            </a:r>
            <a:r>
              <a:rPr lang="en-US" sz="1800" dirty="0">
                <a:latin typeface="Bell MT" panose="02020503060305020303" pitchFamily="18" charset="0"/>
              </a:rPr>
              <a:t>, indicating a well-diversified product mix.</a:t>
            </a:r>
          </a:p>
        </p:txBody>
      </p:sp>
      <p:sp>
        <p:nvSpPr>
          <p:cNvPr id="10" name="Subtitle 7"/>
          <p:cNvSpPr txBox="1">
            <a:spLocks/>
          </p:cNvSpPr>
          <p:nvPr/>
        </p:nvSpPr>
        <p:spPr>
          <a:xfrm>
            <a:off x="6760271" y="6023861"/>
            <a:ext cx="5195230" cy="77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Bell MT" panose="02020503060305020303" pitchFamily="18" charset="0"/>
              </a:rPr>
              <a:t>The </a:t>
            </a:r>
            <a:r>
              <a:rPr lang="en-US" sz="1800" b="1" dirty="0">
                <a:latin typeface="Bell MT" panose="02020503060305020303" pitchFamily="18" charset="0"/>
              </a:rPr>
              <a:t>South</a:t>
            </a:r>
            <a:r>
              <a:rPr lang="en-US" sz="1800" dirty="0">
                <a:latin typeface="Bell MT" panose="02020503060305020303" pitchFamily="18" charset="0"/>
              </a:rPr>
              <a:t>'s low overall profit is due to </a:t>
            </a:r>
            <a:r>
              <a:rPr lang="en-US" sz="1800" b="1" dirty="0">
                <a:latin typeface="Bell MT" panose="02020503060305020303" pitchFamily="18" charset="0"/>
              </a:rPr>
              <a:t>low performance</a:t>
            </a:r>
            <a:r>
              <a:rPr lang="en-US" sz="1800" dirty="0">
                <a:latin typeface="Bell MT" panose="02020503060305020303" pitchFamily="18" charset="0"/>
              </a:rPr>
              <a:t> across all categories</a:t>
            </a:r>
          </a:p>
        </p:txBody>
      </p:sp>
      <p:sp>
        <p:nvSpPr>
          <p:cNvPr id="12" name="Subtitle 7"/>
          <p:cNvSpPr txBox="1">
            <a:spLocks/>
          </p:cNvSpPr>
          <p:nvPr/>
        </p:nvSpPr>
        <p:spPr>
          <a:xfrm>
            <a:off x="1131946" y="172115"/>
            <a:ext cx="5195230" cy="77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en-US" sz="1600" dirty="0">
                <a:latin typeface="Bell MT" panose="02020503060305020303" pitchFamily="18" charset="0"/>
              </a:rPr>
              <a:t>sales and profit are heavily concentrated in </a:t>
            </a:r>
          </a:p>
          <a:p>
            <a:pPr>
              <a:lnSpc>
                <a:spcPct val="50000"/>
              </a:lnSpc>
            </a:pPr>
            <a:r>
              <a:rPr lang="en-US" sz="1600" b="1" dirty="0">
                <a:latin typeface="Bell MT" panose="02020503060305020303" pitchFamily="18" charset="0"/>
              </a:rPr>
              <a:t>coastal and high-population states</a:t>
            </a:r>
            <a:endParaRPr lang="en-US" sz="16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24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4242" y="2117725"/>
            <a:ext cx="5803900" cy="3406775"/>
          </a:xfrm>
        </p:spPr>
        <p:txBody>
          <a:bodyPr>
            <a:noAutofit/>
          </a:bodyPr>
          <a:lstStyle/>
          <a:p>
            <a:r>
              <a:rPr lang="en-US" sz="115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Overview</a:t>
            </a:r>
            <a:br>
              <a:rPr lang="en-US" sz="8800" b="1" dirty="0">
                <a:latin typeface="Baskerville Old Face" panose="02020602080505020303" pitchFamily="18" charset="0"/>
              </a:rPr>
            </a:br>
            <a:endParaRPr lang="en-US" sz="88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D15031-E706-B02C-E82E-9DA38862E86E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6018D-8C5A-B38C-6883-BB5D444D7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17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DF8F7"/>
            </a:gs>
            <a:gs pos="62000">
              <a:srgbClr val="F07474"/>
            </a:gs>
            <a:gs pos="83000">
              <a:srgbClr val="E64C69"/>
            </a:gs>
            <a:gs pos="100000">
              <a:srgbClr val="940E18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BD6C-67C9-7A58-22B3-047F2F6E4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2D71D-9F1A-AA96-111F-E958A4A9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"/>
            <a:ext cx="12192000" cy="68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2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995" y="365125"/>
            <a:ext cx="11542005" cy="1661979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Identifying Product and Customer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082" y="2233249"/>
            <a:ext cx="10515600" cy="338535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Office Supplies (</a:t>
            </a:r>
            <a:r>
              <a:rPr lang="en-US" b="1" dirty="0">
                <a:latin typeface="Bahnschrift Light Condensed" panose="020B0502040204020203" pitchFamily="34" charset="0"/>
              </a:rPr>
              <a:t>15</a:t>
            </a:r>
            <a:r>
              <a:rPr lang="en-US" b="1" dirty="0">
                <a:latin typeface="Bell MT" panose="02020503060305020303" pitchFamily="18" charset="0"/>
              </a:rPr>
              <a:t>%) drives the highest unit volume by far and contributes solid margin, making it the core revenue product.</a:t>
            </a:r>
          </a:p>
          <a:p>
            <a:r>
              <a:rPr lang="en-US" b="1" dirty="0">
                <a:latin typeface="Bell MT" panose="02020503060305020303" pitchFamily="18" charset="0"/>
              </a:rPr>
              <a:t>Furniture (</a:t>
            </a:r>
            <a:r>
              <a:rPr lang="en-US" b="1" dirty="0">
                <a:latin typeface="Bahnschrift Light Condensed" panose="020B0502040204020203" pitchFamily="34" charset="0"/>
              </a:rPr>
              <a:t>3</a:t>
            </a:r>
            <a:r>
              <a:rPr lang="en-US" b="1" dirty="0">
                <a:latin typeface="Bell MT" panose="02020503060305020303" pitchFamily="18" charset="0"/>
              </a:rPr>
              <a:t>%) is a losing product category. Its extremely low margin must be addressed immediately via pricing or discount reduction.</a:t>
            </a:r>
          </a:p>
          <a:p>
            <a:r>
              <a:rPr lang="en-US" b="1" dirty="0">
                <a:latin typeface="Bell MT" panose="02020503060305020303" pitchFamily="18" charset="0"/>
              </a:rPr>
              <a:t>Technology (</a:t>
            </a:r>
            <a:r>
              <a:rPr lang="en-US" b="1" dirty="0">
                <a:latin typeface="Bahnschrift Light Condensed" panose="020B0502040204020203" pitchFamily="34" charset="0"/>
              </a:rPr>
              <a:t>17</a:t>
            </a:r>
            <a:r>
              <a:rPr lang="en-US" b="1" dirty="0">
                <a:latin typeface="Bell MT" panose="02020503060305020303" pitchFamily="18" charset="0"/>
              </a:rPr>
              <a:t>%) has the highest margin and represents our greatest profit opportunity despite having the lowest sales volume.</a:t>
            </a:r>
          </a:p>
          <a:p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CB2C6C-8945-F318-F5C8-7767475139FB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EEA01-4E7D-C8B7-CCC0-115CA7383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86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79" y="1428272"/>
            <a:ext cx="11698521" cy="45225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Regional Performance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5B19EC-8049-BBCA-2E90-17205C9E6224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FC896-E578-BDC2-F07C-F003A4C7A8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96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DF8F7"/>
            </a:gs>
            <a:gs pos="62000">
              <a:srgbClr val="F07474"/>
            </a:gs>
            <a:gs pos="83000">
              <a:srgbClr val="E64C69"/>
            </a:gs>
            <a:gs pos="100000">
              <a:srgbClr val="940E18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068"/>
            <a:ext cx="12324444" cy="709213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6" y="3390900"/>
            <a:ext cx="5689909" cy="32373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2584BF-C03C-C7B2-450E-4BCD3ACD5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1" y="0"/>
            <a:ext cx="12110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23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Regional Success: West as Sales Leader, East as Efficiency 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52939"/>
            <a:ext cx="10515600" cy="3508375"/>
          </a:xfrm>
        </p:spPr>
        <p:txBody>
          <a:bodyPr>
            <a:norm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The West is the definitive top region</a:t>
            </a:r>
            <a:br>
              <a:rPr lang="en-US" b="1" dirty="0">
                <a:latin typeface="Bell MT" panose="02020503060305020303" pitchFamily="18" charset="0"/>
              </a:rPr>
            </a:br>
            <a:r>
              <a:rPr lang="en-US" b="1" dirty="0">
                <a:latin typeface="Bell MT" panose="02020503060305020303" pitchFamily="18" charset="0"/>
              </a:rPr>
              <a:t>leading in Total Sales and Total Profit</a:t>
            </a:r>
          </a:p>
          <a:p>
            <a:r>
              <a:rPr lang="en-US" b="1" dirty="0">
                <a:latin typeface="Bell MT" panose="02020503060305020303" pitchFamily="18" charset="0"/>
              </a:rPr>
              <a:t>The East is close behind in sales and profit</a:t>
            </a:r>
            <a:br>
              <a:rPr lang="en-US" b="1" dirty="0">
                <a:latin typeface="Bell MT" panose="02020503060305020303" pitchFamily="18" charset="0"/>
              </a:rPr>
            </a:br>
            <a:r>
              <a:rPr lang="en-US" b="1" dirty="0">
                <a:latin typeface="Bell MT" panose="02020503060305020303" pitchFamily="18" charset="0"/>
              </a:rPr>
              <a:t>but generates a slightly higher overall Profit Margin</a:t>
            </a:r>
          </a:p>
          <a:p>
            <a:r>
              <a:rPr lang="en-US" b="1" dirty="0">
                <a:latin typeface="Bell MT" panose="02020503060305020303" pitchFamily="18" charset="0"/>
              </a:rPr>
              <a:t>The South region struggles across the board</a:t>
            </a:r>
            <a:endParaRPr lang="ar-EG" b="1" dirty="0">
              <a:latin typeface="Bell MT" panose="02020503060305020303" pitchFamily="18" charset="0"/>
            </a:endParaRPr>
          </a:p>
          <a:p>
            <a:r>
              <a:rPr lang="en-US" b="1" dirty="0">
                <a:latin typeface="Bell MT" panose="02020503060305020303" pitchFamily="18" charset="0"/>
              </a:rPr>
              <a:t>The Central region has low volume in Technology compared to the East and West.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E3A2A2-3258-DE63-861B-25F8F7B915EC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28078-DD9B-CDD8-CBA2-B95CA2D564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76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7728" y="1780268"/>
            <a:ext cx="7251700" cy="39909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Customer</a:t>
            </a:r>
            <a:r>
              <a:rPr lang="en-US" sz="7200" b="1" dirty="0">
                <a:latin typeface="Baskerville Old Face" panose="02020602080505020303" pitchFamily="18" charset="0"/>
              </a:rPr>
              <a:t> </a:t>
            </a:r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Analytics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C4A8C1-779E-230D-FF9D-64EADD30E197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4E3F2-80DF-BBEE-DBEB-A5B29348C4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225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DF8F7"/>
            </a:gs>
            <a:gs pos="62000">
              <a:srgbClr val="F07474"/>
            </a:gs>
            <a:gs pos="83000">
              <a:srgbClr val="E64C69"/>
            </a:gs>
            <a:gs pos="100000">
              <a:srgbClr val="940E18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79" y="-76201"/>
            <a:ext cx="12243235" cy="7064829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ACD61E-CC83-6E66-C139-B20243D2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" y="0"/>
            <a:ext cx="12092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492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0308-BD02-A111-7B2B-9CB8245B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15EB-C818-1808-F838-DD114342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728" y="1780268"/>
            <a:ext cx="7251700" cy="39909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skerville Old Face" panose="02020602080505020303" pitchFamily="18" charset="0"/>
              </a:rPr>
              <a:t>Shipping Performance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252239-C027-B932-D3A1-1530C30C8044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BAA8A-C867-90BA-D2CE-6602D9811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263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B84F-64D3-7410-29D0-997A5590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7C2DCA-B054-EEE4-818D-D11804332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79" y="-76201"/>
            <a:ext cx="12243235" cy="7064829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11CAAF-BD8F-0D87-12B6-B8627B27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" y="0"/>
            <a:ext cx="1209221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2C3779-B354-8186-A5DC-9CC69CEFC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879" y="0"/>
            <a:ext cx="12243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27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737" y="26337"/>
            <a:ext cx="10515600" cy="1325563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Seasonality and Customer Lifetime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998" y="1561221"/>
            <a:ext cx="11486002" cy="435133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Out of </a:t>
            </a:r>
            <a:r>
              <a:rPr lang="en-US" sz="2400" b="1" dirty="0">
                <a:latin typeface="Bahnschrift Light Condensed" panose="020B0502040204020203" pitchFamily="34" charset="0"/>
              </a:rPr>
              <a:t>793</a:t>
            </a:r>
            <a:r>
              <a:rPr lang="en-US" sz="2400" b="1" dirty="0">
                <a:latin typeface="Bell MT" panose="02020503060305020303" pitchFamily="18" charset="0"/>
              </a:rPr>
              <a:t> Total Customers, an impressive </a:t>
            </a:r>
            <a:r>
              <a:rPr lang="en-US" sz="2400" b="1" dirty="0">
                <a:latin typeface="Bahnschrift Light Condensed" panose="020B0502040204020203" pitchFamily="34" charset="0"/>
              </a:rPr>
              <a:t>788</a:t>
            </a:r>
            <a:r>
              <a:rPr lang="en-US" sz="2400" b="1" dirty="0">
                <a:latin typeface="Bell MT" panose="02020503060305020303" pitchFamily="18" charset="0"/>
              </a:rPr>
              <a:t> are Returning Customers. This indicates high customer loyalty.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Despite high retention, a large number of customers are Dormant or Inactive</a:t>
            </a:r>
            <a:br>
              <a:rPr lang="en-US" sz="2400" b="1" dirty="0">
                <a:latin typeface="Bell MT" panose="02020503060305020303" pitchFamily="18" charset="0"/>
              </a:rPr>
            </a:br>
            <a:r>
              <a:rPr lang="en-US" sz="2400" b="1" dirty="0">
                <a:latin typeface="Bell MT" panose="02020503060305020303" pitchFamily="18" charset="0"/>
              </a:rPr>
              <a:t>this representing a massive churn risk.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Only </a:t>
            </a:r>
            <a:r>
              <a:rPr lang="en-US" sz="2400" b="1" dirty="0">
                <a:latin typeface="Bahnschrift Light Condensed" panose="020B0502040204020203" pitchFamily="34" charset="0"/>
              </a:rPr>
              <a:t>12.96</a:t>
            </a:r>
            <a:r>
              <a:rPr lang="en-US" sz="2400" b="1" dirty="0">
                <a:latin typeface="Bell MT" panose="02020503060305020303" pitchFamily="18" charset="0"/>
              </a:rPr>
              <a:t>% of your customer base is classified as High Value (</a:t>
            </a:r>
            <a:r>
              <a:rPr lang="en-US" sz="2400" b="1" dirty="0">
                <a:latin typeface="Bahnschrift Light Condensed" panose="020B0502040204020203" pitchFamily="34" charset="0"/>
              </a:rPr>
              <a:t>122</a:t>
            </a:r>
            <a:r>
              <a:rPr lang="en-US" sz="2400" b="1" dirty="0">
                <a:latin typeface="Bell MT" panose="02020503060305020303" pitchFamily="18" charset="0"/>
              </a:rPr>
              <a:t> customers). The vast majority (</a:t>
            </a:r>
            <a:r>
              <a:rPr lang="en-US" sz="2400" b="1" dirty="0">
                <a:latin typeface="Bahnschrift Light Condensed" panose="020B0502040204020203" pitchFamily="34" charset="0"/>
              </a:rPr>
              <a:t>84.27</a:t>
            </a:r>
            <a:r>
              <a:rPr lang="en-US" sz="2400" b="1" dirty="0">
                <a:latin typeface="Bell MT" panose="02020503060305020303" pitchFamily="18" charset="0"/>
              </a:rPr>
              <a:t>%) fall into the Low or Mid-Value tiers.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The Average Profit per Customer is $</a:t>
            </a:r>
            <a:r>
              <a:rPr lang="en-US" sz="2400" b="1" dirty="0">
                <a:latin typeface="Bahnschrift Light Condensed" panose="020B0502040204020203" pitchFamily="34" charset="0"/>
              </a:rPr>
              <a:t>356</a:t>
            </a:r>
            <a:r>
              <a:rPr lang="en-US" sz="2400" b="1" dirty="0">
                <a:latin typeface="Bell MT" panose="02020503060305020303" pitchFamily="18" charset="0"/>
              </a:rPr>
              <a:t>. The goal is to move more customers from the Low/Mid-Value tiers into the High-Value tier to significantly boost this average.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The high Average Sales per Customer ($</a:t>
            </a:r>
            <a:r>
              <a:rPr lang="en-US" sz="2400" b="1" dirty="0">
                <a:latin typeface="Bahnschrift Light Condensed" panose="020B0502040204020203" pitchFamily="34" charset="0"/>
              </a:rPr>
              <a:t>2,970</a:t>
            </a:r>
            <a:r>
              <a:rPr lang="en-US" sz="2400" b="1" dirty="0">
                <a:latin typeface="Bell MT" panose="02020503060305020303" pitchFamily="18" charset="0"/>
              </a:rPr>
              <a:t>) suggests that when a customer does buy, they spend a significant amount. This indicates strong pricing power or large average order sizes, which is important to maintain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1BAD76-05F2-B6CA-7433-28465906DA89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DD30F-93B2-13A7-049E-033F5B194C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707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737" y="478971"/>
            <a:ext cx="10515600" cy="1325563"/>
          </a:xfrm>
        </p:spPr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Recommendations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375" y="1946049"/>
            <a:ext cx="11608497" cy="443298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Immediately review the cost to serve and pricing of Furniture (</a:t>
            </a:r>
            <a:r>
              <a:rPr lang="en-US" sz="2400" b="1" dirty="0">
                <a:latin typeface="Bahnschrift Light Condensed" panose="020B0502040204020203" pitchFamily="34" charset="0"/>
              </a:rPr>
              <a:t>3</a:t>
            </a:r>
            <a:r>
              <a:rPr lang="en-US" sz="2400" b="1" dirty="0">
                <a:latin typeface="Bell MT" panose="02020503060305020303" pitchFamily="18" charset="0"/>
              </a:rPr>
              <a:t>% margin). Implement a plan to either increase its margin to a minimum of </a:t>
            </a:r>
            <a:r>
              <a:rPr lang="en-US" sz="2400" b="1" dirty="0">
                <a:latin typeface="Bahnschrift Light Condensed" panose="020B0502040204020203" pitchFamily="34" charset="0"/>
              </a:rPr>
              <a:t>8</a:t>
            </a:r>
            <a:r>
              <a:rPr lang="en-US" sz="2400" b="1" dirty="0">
                <a:latin typeface="Bell MT" panose="02020503060305020303" pitchFamily="18" charset="0"/>
              </a:rPr>
              <a:t>% or phase out non-profitable lines.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Increase the market share of Technology (</a:t>
            </a:r>
            <a:r>
              <a:rPr lang="en-US" sz="2400" b="1" dirty="0">
                <a:latin typeface="Bahnschrift Light Condensed" panose="020B0502040204020203" pitchFamily="34" charset="0"/>
              </a:rPr>
              <a:t>17</a:t>
            </a:r>
            <a:r>
              <a:rPr lang="en-US" sz="2400" b="1" dirty="0">
                <a:latin typeface="Bell MT" panose="02020503060305020303" pitchFamily="18" charset="0"/>
              </a:rPr>
              <a:t>% margin) by leveraging its high profitability to fund aggressive marketing campaigns.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Ensure high stock levels and rapid fulfillment for Office Supplies (high volume, </a:t>
            </a:r>
            <a:r>
              <a:rPr lang="en-US" sz="2400" b="1" dirty="0">
                <a:latin typeface="Bahnschrift Light Condensed" panose="020B0502040204020203" pitchFamily="34" charset="0"/>
              </a:rPr>
              <a:t>15</a:t>
            </a:r>
            <a:r>
              <a:rPr lang="en-US" sz="2400" b="1" dirty="0">
                <a:latin typeface="Bell MT" panose="02020503060305020303" pitchFamily="18" charset="0"/>
              </a:rPr>
              <a:t>% margin) to maintain core revenue and prevent stock-outs.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Investigate the operational cost structure in the East region (highest overall margin) and apply those efficiency gains to Central and South regions.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Develop campaigns to push Technology sales directly to our Corporate and High-Value segments, particularly during the Q</a:t>
            </a:r>
            <a:r>
              <a:rPr lang="en-US" sz="2400" b="1" dirty="0">
                <a:latin typeface="Bahnschrift Light Condensed" panose="020B0502040204020203" pitchFamily="34" charset="0"/>
              </a:rPr>
              <a:t>2</a:t>
            </a:r>
            <a:r>
              <a:rPr lang="en-US" sz="2400" b="1" dirty="0">
                <a:latin typeface="Bell MT" panose="02020503060305020303" pitchFamily="18" charset="0"/>
              </a:rPr>
              <a:t>/Q</a:t>
            </a:r>
            <a:r>
              <a:rPr lang="en-US" sz="2400" b="1" dirty="0">
                <a:latin typeface="Bahnschrift Light Condensed" panose="020B0502040204020203" pitchFamily="34" charset="0"/>
              </a:rPr>
              <a:t>3</a:t>
            </a:r>
            <a:r>
              <a:rPr lang="en-US" sz="2400" b="1" dirty="0">
                <a:latin typeface="Bell MT" panose="02020503060305020303" pitchFamily="18" charset="0"/>
              </a:rPr>
              <a:t> slump.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289460-7AC5-BD8F-475C-867544D9F6DB}"/>
              </a:ext>
            </a:extLst>
          </p:cNvPr>
          <p:cNvSpPr/>
          <p:nvPr/>
        </p:nvSpPr>
        <p:spPr>
          <a:xfrm>
            <a:off x="10935465" y="0"/>
            <a:ext cx="1002535" cy="79100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9ABBD-BA02-A709-A0C1-80E9ED42F1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592" y="0"/>
            <a:ext cx="798280" cy="7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9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2688</Words>
  <Application>Microsoft Office PowerPoint</Application>
  <PresentationFormat>Widescreen</PresentationFormat>
  <Paragraphs>214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Bahnschrift Light Condensed</vt:lpstr>
      <vt:lpstr>Baskerville Old Face</vt:lpstr>
      <vt:lpstr>Bell MT</vt:lpstr>
      <vt:lpstr>Calibri</vt:lpstr>
      <vt:lpstr>Calibri Light</vt:lpstr>
      <vt:lpstr>Consolas</vt:lpstr>
      <vt:lpstr>Office Theme</vt:lpstr>
      <vt:lpstr>Superstore Dataset</vt:lpstr>
      <vt:lpstr>Main problem trying to solve</vt:lpstr>
      <vt:lpstr>Sales performance is inconsistent across regions, customers, and ship modes. causing lost revenue and reduced profitability. </vt:lpstr>
      <vt:lpstr>Delivery times and shipping methods are affecting customer satisfaction and profitability.</vt:lpstr>
      <vt:lpstr>About Our Data</vt:lpstr>
      <vt:lpstr>Data Structure and Columns</vt:lpstr>
      <vt:lpstr>python</vt:lpstr>
      <vt:lpstr>python</vt:lpstr>
      <vt:lpstr>encoding</vt:lpstr>
      <vt:lpstr>PowerPoint Presentation</vt:lpstr>
      <vt:lpstr>Missing Values: Checked all columns, no missing values found.</vt:lpstr>
      <vt:lpstr>SQL Analysis (KPIs + Descriptive Analytics)</vt:lpstr>
      <vt:lpstr>Overview of the Database Entities and Relationships  (Based on SQL Schema)</vt:lpstr>
      <vt:lpstr>  Overview Page 1. Total Sales, Total Profit &amp; Profit Margin </vt:lpstr>
      <vt:lpstr>SELECT      SUM(sales) AS total_sales,     SUM(profit) AS total_profit,    (SUM(profit) / SUM(sales)* 100) AS profit_margin_percent FROM fact_sales;</vt:lpstr>
      <vt:lpstr>2. Total Quantity Sold </vt:lpstr>
      <vt:lpstr>SELECT     SUM(quantity) AS total_quantity_sold FROM fact_sales;</vt:lpstr>
      <vt:lpstr>3. Average Discount </vt:lpstr>
      <vt:lpstr>SELECT      round(AVG(discount)*100,2) AS average_discount_percent FROM fact_sales;</vt:lpstr>
      <vt:lpstr>REGIONAL PERFORMANCE 4. Profit by Region </vt:lpstr>
      <vt:lpstr>SELECT   c.region, SUM(f.sales) AS total_sales,  SUM(f.profit) AS total_profit,    (SUM(f.profit) / SUM(f.sales) * 100) AS profit_margin_percent FROM fact_sales f       JOIN dim_customer c USING(customer_id)           GROUP BY c.region ORDER BY total_sales DESC;</vt:lpstr>
      <vt:lpstr>5. Sales by State </vt:lpstr>
      <vt:lpstr>SELECT   c.state AS State, SUM(f.sales) AS Total_Sales FROM fact_sales f     JOIN dim_customer c USING (customer_id) GROUP BY c.state ORDER BY total_sales DESC;</vt:lpstr>
      <vt:lpstr>CUSTOMER ANALYTICS 6. Average Order Value (AOV) </vt:lpstr>
      <vt:lpstr>SELECT      SUM(sales) / COUNT(DISTINCT order_id) AS avg_order_value FROM fact_sales; </vt:lpstr>
      <vt:lpstr>7. Customer Lifetime Value (CLV) </vt:lpstr>
      <vt:lpstr>SELECT     customer_id,   SUM(sales) AS total_sales FROM fact_sales GROUP BY customer_id;</vt:lpstr>
      <vt:lpstr>8. Top Customers </vt:lpstr>
      <vt:lpstr>SELECT      customer_id,     SUM(sales) AS total_sales,     COUNT(DISTINCT order_id) AS total_orders FROM fact_sales GROUP BY customer_id ORDER BY total_sales DESC LIMIT 10; </vt:lpstr>
      <vt:lpstr>OPERATIONAL INSIGHTS 9. Average Delivery Time (Overall) </vt:lpstr>
      <vt:lpstr>SELECT      ROUND(AVG(delivery_days), 2) AS avg_delivery_days FROM fact_sales;</vt:lpstr>
      <vt:lpstr>10. Average Delivery Time per Ship Mode </vt:lpstr>
      <vt:lpstr>SELECT      s.ship_mode_name,     ROUND(AVG(f.delivery_days), 2) AS avg_delivery_days FROM fact_sales f JOIN dim_shipmode s      ON f.ship_mode = s.ship_mode_name GROUP BY s.ship_mode_name ORDER BY avg_delivery_days;</vt:lpstr>
      <vt:lpstr>11. Average Delivery Time by Month </vt:lpstr>
      <vt:lpstr>SELECT      order_year,     order_month,     ROUND(AVG(delivery_days), 2) AS avg_delivery_days FROM fact_sales GROUP BY order_year, order_month ORDER BY order_year, order_month;</vt:lpstr>
      <vt:lpstr>SHIP MODE PERFORMANCE 12. Ship Mode Summary </vt:lpstr>
      <vt:lpstr>SELECT      s.ship_mode_name,     COUNT(DISTINCT f.order_id) AS total_orders,    ROUND(COALESCE(SUM(f.sales),0),2) AS total_sales,    ROUND(COALESCE(SUM(f.profit),0),2) AS total_profit,    ROUND(AVG(f.delivery_days),2) AS avg_delivery_days  FROM fact_sales f JOIN dim_shipmode s     ON f.ship_mode = s.ship_mode_name GROUP BY s.ship_mode_name ORDER BY total_sales DESC;</vt:lpstr>
      <vt:lpstr>13. Ship Mode Performance by Region </vt:lpstr>
      <vt:lpstr>SELECT     c.region, s.ship_mode_name,     COUNT(DISTINCT f.order_id) AS total_orders,     ROUND(COALESCE(SUM(f.sales),0),2) AS total_sales,     ROUND(COALESCE(SUM(f.profit),0),2) AS total_profit,     ROUND(AVG(f.delivery_days),2) AS avg_delivery_days FROM fact_sales f JOIN dim_customer c      ON f.customer_id = c.customer_id JOIN dim_shipmode s      ON f.ship_mode = s.ship_mode_name GROUP BY c.region, s.ship_mode_name ORDER BY c.region, total_sales DESC;</vt:lpstr>
      <vt:lpstr>14. Ship Mode Share of Total Sales (%) </vt:lpstr>
      <vt:lpstr>SELECT      s.ship_mode_name,     ROUND(SUM(f.sales),2) AS total_sales,     CONCAT(ROUND(SUM(f.sales) * 100 / NULLIF((SELECT SUM(sales)  FROM fact_sales),0),2), '%') AS pct_of_total_sales FROM fact_sales f JOIN dim_shipmode s      ON f.ship_mode = s.ship_mode_name GROUP BY s.ship_mode_name ORDER BY total_sales DESC;</vt:lpstr>
      <vt:lpstr>Visualization</vt:lpstr>
      <vt:lpstr>Company Growth and Key Categories</vt:lpstr>
      <vt:lpstr>Profit Drivers Region and Product Contribution</vt:lpstr>
      <vt:lpstr>Overview </vt:lpstr>
      <vt:lpstr>PowerPoint Presentation</vt:lpstr>
      <vt:lpstr>Identifying Product and Customer Drivers</vt:lpstr>
      <vt:lpstr>Regional Performance</vt:lpstr>
      <vt:lpstr>PowerPoint Presentation</vt:lpstr>
      <vt:lpstr>Regional Success: West as Sales Leader, East as Efficiency King</vt:lpstr>
      <vt:lpstr>Customer Analytics</vt:lpstr>
      <vt:lpstr>PowerPoint Presentation</vt:lpstr>
      <vt:lpstr>Shipping Performance</vt:lpstr>
      <vt:lpstr>PowerPoint Presentation</vt:lpstr>
      <vt:lpstr>Seasonality and Customer Lifetime Value</vt:lpstr>
      <vt:lpstr>Recommendations &amp;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Squad Sales Evolution</dc:title>
  <dc:creator>Yahia Ahmed</dc:creator>
  <cp:lastModifiedBy>Sameh Mohamed Elaraby Mohamed</cp:lastModifiedBy>
  <cp:revision>48</cp:revision>
  <dcterms:created xsi:type="dcterms:W3CDTF">2025-11-17T23:07:24Z</dcterms:created>
  <dcterms:modified xsi:type="dcterms:W3CDTF">2025-11-20T16:37:48Z</dcterms:modified>
</cp:coreProperties>
</file>